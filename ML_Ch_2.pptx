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71" r:id="rId8"/>
    <p:sldId id="268" r:id="rId9"/>
    <p:sldId id="272" r:id="rId10"/>
    <p:sldId id="273" r:id="rId11"/>
    <p:sldId id="274" r:id="rId12"/>
    <p:sldId id="261" r:id="rId13"/>
    <p:sldId id="262" r:id="rId14"/>
    <p:sldId id="263" r:id="rId15"/>
    <p:sldId id="264" r:id="rId16"/>
    <p:sldId id="269" r:id="rId17"/>
    <p:sldId id="284" r:id="rId18"/>
    <p:sldId id="285" r:id="rId19"/>
    <p:sldId id="286" r:id="rId20"/>
    <p:sldId id="287" r:id="rId21"/>
    <p:sldId id="265" r:id="rId22"/>
    <p:sldId id="288" r:id="rId23"/>
    <p:sldId id="289" r:id="rId24"/>
    <p:sldId id="290" r:id="rId25"/>
    <p:sldId id="266" r:id="rId26"/>
    <p:sldId id="292" r:id="rId27"/>
    <p:sldId id="293" r:id="rId28"/>
    <p:sldId id="294" r:id="rId29"/>
    <p:sldId id="295" r:id="rId30"/>
    <p:sldId id="296" r:id="rId31"/>
    <p:sldId id="297" r:id="rId32"/>
    <p:sldId id="298" r:id="rId33"/>
    <p:sldId id="299" r:id="rId34"/>
    <p:sldId id="300" r:id="rId35"/>
    <p:sldId id="301" r:id="rId36"/>
    <p:sldId id="302" r:id="rId37"/>
    <p:sldId id="267" r:id="rId38"/>
  </p:sldIdLst>
  <p:sldSz cx="12192000" cy="6858000"/>
  <p:notesSz cx="7103745" cy="102342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notesViewPr>
    <p:cSldViewPr snapToGrid="0">
      <p:cViewPr varScale="1">
        <p:scale>
          <a:sx n="41" d="100"/>
          <a:sy n="41" d="100"/>
        </p:scale>
        <p:origin x="1794" y="54"/>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FDE934FF-F4E1-47C5-9CA5-30A81DDE2BE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FDE934FF-F4E1-47C5-9CA5-30A81DDE2BE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E934FF-F4E1-47C5-9CA5-30A81DDE2BE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FDE934FF-F4E1-47C5-9CA5-30A81DDE2BE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E934FF-F4E1-47C5-9CA5-30A81DDE2BE4}"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561BA9-CDCF-4958-B8AB-66F3BF063E13}"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8.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from 2026-05-13 14-41-14"/>
          <p:cNvPicPr>
            <a:picLocks noChangeAspect="1"/>
          </p:cNvPicPr>
          <p:nvPr/>
        </p:nvPicPr>
        <p:blipFill>
          <a:blip r:embed="rId1"/>
          <a:stretch>
            <a:fillRect/>
          </a:stretch>
        </p:blipFill>
        <p:spPr>
          <a:xfrm>
            <a:off x="219075" y="31115"/>
            <a:ext cx="11812270" cy="67449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from 2026-05-13 14-41-46"/>
          <p:cNvPicPr>
            <a:picLocks noChangeAspect="1"/>
          </p:cNvPicPr>
          <p:nvPr/>
        </p:nvPicPr>
        <p:blipFill>
          <a:blip r:embed="rId1"/>
          <a:stretch>
            <a:fillRect/>
          </a:stretch>
        </p:blipFill>
        <p:spPr>
          <a:xfrm>
            <a:off x="261620" y="57785"/>
            <a:ext cx="11619865" cy="66351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from 2026-05-13 14-42-05"/>
          <p:cNvPicPr>
            <a:picLocks noChangeAspect="1"/>
          </p:cNvPicPr>
          <p:nvPr/>
        </p:nvPicPr>
        <p:blipFill>
          <a:blip r:embed="rId1"/>
          <a:stretch>
            <a:fillRect/>
          </a:stretch>
        </p:blipFill>
        <p:spPr>
          <a:xfrm>
            <a:off x="195580" y="59690"/>
            <a:ext cx="11673205" cy="66649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Screenshot from 2026-05-13 14-43-40"/>
          <p:cNvPicPr>
            <a:picLocks noChangeAspect="1"/>
          </p:cNvPicPr>
          <p:nvPr/>
        </p:nvPicPr>
        <p:blipFill>
          <a:blip r:embed="rId1"/>
          <a:stretch>
            <a:fillRect/>
          </a:stretch>
        </p:blipFill>
        <p:spPr>
          <a:xfrm>
            <a:off x="152400" y="34925"/>
            <a:ext cx="11726545" cy="66960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from 2026-05-13 14-44-01"/>
          <p:cNvPicPr>
            <a:picLocks noChangeAspect="1"/>
          </p:cNvPicPr>
          <p:nvPr/>
        </p:nvPicPr>
        <p:blipFill>
          <a:blip r:embed="rId1"/>
          <a:stretch>
            <a:fillRect/>
          </a:stretch>
        </p:blipFill>
        <p:spPr>
          <a:xfrm>
            <a:off x="109855" y="10795"/>
            <a:ext cx="11812270" cy="67449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275330" y="2571115"/>
            <a:ext cx="5264150" cy="1325880"/>
          </a:xfrm>
        </p:spPr>
        <p:txBody>
          <a:bodyPr>
            <a:normAutofit/>
          </a:bodyPr>
          <a:p>
            <a:r>
              <a:rPr lang="en-US" altLang="en-US"/>
              <a:t>DATA IMPORTING</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from 2026-05-13 15-49-30"/>
          <p:cNvPicPr>
            <a:picLocks noChangeAspect="1"/>
          </p:cNvPicPr>
          <p:nvPr/>
        </p:nvPicPr>
        <p:blipFill>
          <a:blip r:embed="rId1"/>
          <a:stretch>
            <a:fillRect/>
          </a:stretch>
        </p:blipFill>
        <p:spPr>
          <a:xfrm>
            <a:off x="282575" y="109220"/>
            <a:ext cx="11389360" cy="65030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Importing Data From Scikit-learn</a:t>
            </a:r>
            <a:endParaRPr lang="en-US" altLang="en-US"/>
          </a:p>
        </p:txBody>
      </p:sp>
      <p:sp>
        <p:nvSpPr>
          <p:cNvPr id="4" name="Content Placeholder 3"/>
          <p:cNvSpPr/>
          <p:nvPr>
            <p:ph idx="1"/>
          </p:nvPr>
        </p:nvSpPr>
        <p:spPr>
          <a:xfrm>
            <a:off x="297815" y="1825625"/>
            <a:ext cx="5989320" cy="4351655"/>
          </a:xfrm>
        </p:spPr>
        <p:txBody>
          <a:bodyPr>
            <a:normAutofit/>
          </a:bodyPr>
          <a:p>
            <a:pPr marL="0" indent="0">
              <a:buNone/>
            </a:pPr>
            <a:r>
              <a:rPr lang="en-US" sz="1800"/>
              <a:t>1. Using Built-in "Toy" Datasets</a:t>
            </a:r>
            <a:endParaRPr lang="en-US" sz="1800"/>
          </a:p>
          <a:p>
            <a:pPr marL="0" indent="0">
              <a:buNone/>
            </a:pPr>
            <a:endParaRPr lang="en-US" sz="1800"/>
          </a:p>
          <a:p>
            <a:pPr marL="0" indent="0">
              <a:buNone/>
            </a:pPr>
            <a:r>
              <a:rPr lang="en-US" sz="1800"/>
              <a:t>These are small datasets installed directly with the library. They are perfect for quickly testing a model or practicing a new technique.</a:t>
            </a:r>
            <a:endParaRPr lang="en-US" sz="1800"/>
          </a:p>
          <a:p>
            <a:pPr marL="0" indent="0">
              <a:buNone/>
            </a:pPr>
            <a:endParaRPr lang="en-US" sz="1800"/>
          </a:p>
          <a:p>
            <a:pPr marL="0" indent="0">
              <a:buNone/>
            </a:pPr>
            <a:r>
              <a:rPr lang="en-US" sz="1800"/>
              <a:t>Common datasets include:</a:t>
            </a:r>
            <a:endParaRPr lang="en-US" sz="1800"/>
          </a:p>
          <a:p>
            <a:pPr marL="0" indent="0">
              <a:buNone/>
            </a:pPr>
            <a:endParaRPr lang="en-US" sz="1800"/>
          </a:p>
          <a:p>
            <a:r>
              <a:rPr lang="en-US" sz="1800"/>
              <a:t>Iris: load_iris() (Classification)</a:t>
            </a:r>
            <a:endParaRPr lang="en-US" sz="1800"/>
          </a:p>
          <a:p>
            <a:r>
              <a:rPr lang="en-US" sz="1800"/>
              <a:t>Digits: load_digits() (Image classification)</a:t>
            </a:r>
            <a:endParaRPr lang="en-US" sz="1800"/>
          </a:p>
          <a:p>
            <a:r>
              <a:rPr lang="en-US" sz="1800"/>
              <a:t>Wine: load_wine() (Multi-class classification)</a:t>
            </a:r>
            <a:endParaRPr lang="en-US" sz="1800"/>
          </a:p>
          <a:p>
            <a:endParaRPr lang="en-US" sz="1800"/>
          </a:p>
          <a:p>
            <a:endParaRPr lang="en-US" sz="1800"/>
          </a:p>
        </p:txBody>
      </p:sp>
      <p:sp>
        <p:nvSpPr>
          <p:cNvPr id="5" name="Text Box 4"/>
          <p:cNvSpPr txBox="1"/>
          <p:nvPr/>
        </p:nvSpPr>
        <p:spPr>
          <a:xfrm>
            <a:off x="6189980" y="2126615"/>
            <a:ext cx="5874385" cy="3692525"/>
          </a:xfrm>
          <a:prstGeom prst="rect">
            <a:avLst/>
          </a:prstGeom>
          <a:noFill/>
        </p:spPr>
        <p:txBody>
          <a:bodyPr wrap="square" rtlCol="0" anchor="t">
            <a:spAutoFit/>
          </a:bodyPr>
          <a:p>
            <a:r>
              <a:rPr lang="en-US">
                <a:sym typeface="+mn-ea"/>
              </a:rPr>
              <a:t>Example Code:</a:t>
            </a:r>
            <a:endParaRPr lang="en-US"/>
          </a:p>
          <a:p>
            <a:endParaRPr lang="en-US">
              <a:sym typeface="+mn-ea"/>
            </a:endParaRPr>
          </a:p>
          <a:p>
            <a:r>
              <a:rPr lang="en-US">
                <a:sym typeface="+mn-ea"/>
              </a:rPr>
              <a:t>from sklearn.datasets import load_iris</a:t>
            </a:r>
            <a:endParaRPr lang="en-US">
              <a:sym typeface="+mn-ea"/>
            </a:endParaRPr>
          </a:p>
          <a:p>
            <a:endParaRPr lang="en-US"/>
          </a:p>
          <a:p>
            <a:r>
              <a:rPr lang="en-US">
                <a:sym typeface="+mn-ea"/>
              </a:rPr>
              <a:t># Load the data</a:t>
            </a:r>
            <a:endParaRPr lang="en-US"/>
          </a:p>
          <a:p>
            <a:r>
              <a:rPr lang="en-US">
                <a:sym typeface="+mn-ea"/>
              </a:rPr>
              <a:t>data = load_iris()</a:t>
            </a:r>
            <a:endParaRPr lang="en-US"/>
          </a:p>
          <a:p>
            <a:endParaRPr lang="en-US">
              <a:sym typeface="+mn-ea"/>
            </a:endParaRPr>
          </a:p>
          <a:p>
            <a:r>
              <a:rPr lang="en-US">
                <a:sym typeface="+mn-ea"/>
              </a:rPr>
              <a:t># Access features (X) and target (y)</a:t>
            </a:r>
            <a:endParaRPr lang="en-US"/>
          </a:p>
          <a:p>
            <a:r>
              <a:rPr lang="en-US">
                <a:sym typeface="+mn-ea"/>
              </a:rPr>
              <a:t>X = data.data</a:t>
            </a:r>
            <a:endParaRPr lang="en-US"/>
          </a:p>
          <a:p>
            <a:r>
              <a:rPr lang="en-US">
                <a:sym typeface="+mn-ea"/>
              </a:rPr>
              <a:t>y = data.target</a:t>
            </a:r>
            <a:endParaRPr lang="en-US"/>
          </a:p>
          <a:p>
            <a:endParaRPr lang="en-US">
              <a:sym typeface="+mn-ea"/>
            </a:endParaRPr>
          </a:p>
          <a:p>
            <a:r>
              <a:rPr lang="en-US">
                <a:sym typeface="+mn-ea"/>
              </a:rPr>
              <a:t># Get feature names</a:t>
            </a:r>
            <a:endParaRPr lang="en-US"/>
          </a:p>
          <a:p>
            <a:r>
              <a:rPr lang="en-US">
                <a:sym typeface="+mn-ea"/>
              </a:rPr>
              <a:t>print(data.feature_names)</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926445" cy="1325880"/>
          </a:xfrm>
        </p:spPr>
        <p:txBody>
          <a:bodyPr>
            <a:normAutofit fontScale="90000"/>
          </a:bodyPr>
          <a:p>
            <a:r>
              <a:rPr lang="en-US" altLang="en-US"/>
              <a:t>Importing Data From Scikit-learn (Contd.)</a:t>
            </a:r>
            <a:endParaRPr lang="en-US" altLang="en-US"/>
          </a:p>
        </p:txBody>
      </p:sp>
      <p:sp>
        <p:nvSpPr>
          <p:cNvPr id="4" name="Content Placeholder 3"/>
          <p:cNvSpPr/>
          <p:nvPr>
            <p:ph idx="1"/>
          </p:nvPr>
        </p:nvSpPr>
        <p:spPr>
          <a:xfrm>
            <a:off x="297815" y="1825625"/>
            <a:ext cx="5989320" cy="4351655"/>
          </a:xfrm>
        </p:spPr>
        <p:txBody>
          <a:bodyPr>
            <a:normAutofit/>
          </a:bodyPr>
          <a:p>
            <a:pPr marL="0" indent="0">
              <a:buNone/>
            </a:pPr>
            <a:r>
              <a:rPr lang="en-US" sz="1800"/>
              <a:t>2. Downloading Real-World Datasets (`fetch`)</a:t>
            </a:r>
            <a:endParaRPr lang="en-US" sz="1800"/>
          </a:p>
          <a:p>
            <a:pPr marL="0" indent="0">
              <a:buNone/>
            </a:pPr>
            <a:endParaRPr lang="en-US" sz="1800"/>
          </a:p>
          <a:p>
            <a:pPr marL="0" indent="0">
              <a:buNone/>
            </a:pPr>
            <a:r>
              <a:rPr lang="en-US" sz="1800"/>
              <a:t>For larger datasets, `sklearn` provides "fetchers" that download data from the internet (and cache it locally for future use). These are typically used for more complex benchmarks.</a:t>
            </a:r>
            <a:endParaRPr lang="en-US" sz="1800"/>
          </a:p>
          <a:p>
            <a:pPr marL="0" indent="0">
              <a:buNone/>
            </a:pPr>
            <a:endParaRPr lang="en-US" sz="1800"/>
          </a:p>
          <a:p>
            <a:pPr marL="0" indent="0">
              <a:buNone/>
            </a:pPr>
            <a:r>
              <a:rPr lang="en-US" altLang="en-US" sz="1800"/>
              <a:t>* </a:t>
            </a:r>
            <a:r>
              <a:rPr lang="en-US" sz="1800"/>
              <a:t>California Housing: `fetch_california_housing()`</a:t>
            </a:r>
            <a:endParaRPr lang="en-US" sz="1800"/>
          </a:p>
          <a:p>
            <a:pPr marL="0" indent="0">
              <a:buNone/>
            </a:pPr>
            <a:r>
              <a:rPr lang="en-US" sz="1800"/>
              <a:t>* Olivetti Faces: `fetch_olivetti_faces()`</a:t>
            </a:r>
            <a:endParaRPr lang="en-US" sz="1800"/>
          </a:p>
          <a:p>
            <a:pPr marL="0" indent="0">
              <a:buNone/>
            </a:pPr>
            <a:r>
              <a:rPr lang="en-US" sz="1800"/>
              <a:t>* MNIST: `fetch_openml('mnist_784')`</a:t>
            </a:r>
            <a:endParaRPr lang="en-US" sz="1800"/>
          </a:p>
          <a:p>
            <a:endParaRPr lang="en-US" sz="1800"/>
          </a:p>
          <a:p>
            <a:endParaRPr lang="en-US" sz="1800"/>
          </a:p>
        </p:txBody>
      </p:sp>
      <p:sp>
        <p:nvSpPr>
          <p:cNvPr id="5" name="Text Box 4"/>
          <p:cNvSpPr txBox="1"/>
          <p:nvPr/>
        </p:nvSpPr>
        <p:spPr>
          <a:xfrm>
            <a:off x="6189980" y="2137410"/>
            <a:ext cx="5874385" cy="2306955"/>
          </a:xfrm>
          <a:prstGeom prst="rect">
            <a:avLst/>
          </a:prstGeom>
          <a:noFill/>
        </p:spPr>
        <p:txBody>
          <a:bodyPr wrap="square" rtlCol="0" anchor="t">
            <a:spAutoFit/>
          </a:bodyPr>
          <a:p>
            <a:r>
              <a:rPr lang="en-US">
                <a:sym typeface="+mn-ea"/>
              </a:rPr>
              <a:t>Example Code:</a:t>
            </a:r>
            <a:endParaRPr lang="en-US"/>
          </a:p>
          <a:p>
            <a:endParaRPr lang="en-US">
              <a:sym typeface="+mn-ea"/>
            </a:endParaRPr>
          </a:p>
          <a:p>
            <a:r>
              <a:rPr lang="en-US">
                <a:sym typeface="+mn-ea"/>
              </a:rPr>
              <a:t>from sklearn.datasets import fetch_california_housing</a:t>
            </a:r>
            <a:endParaRPr lang="en-US">
              <a:sym typeface="+mn-ea"/>
            </a:endParaRPr>
          </a:p>
          <a:p>
            <a:endParaRPr lang="en-US">
              <a:sym typeface="+mn-ea"/>
            </a:endParaRPr>
          </a:p>
          <a:p>
            <a:r>
              <a:rPr lang="en-US">
                <a:sym typeface="+mn-ea"/>
              </a:rPr>
              <a:t>housing = fetch_california_housing()</a:t>
            </a:r>
            <a:endParaRPr lang="en-US">
              <a:sym typeface="+mn-ea"/>
            </a:endParaRPr>
          </a:p>
          <a:p>
            <a:r>
              <a:rPr lang="en-US">
                <a:sym typeface="+mn-ea"/>
              </a:rPr>
              <a:t>print(housing.target_names) # Median house value</a:t>
            </a:r>
            <a:endParaRPr lang="en-US">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807700" cy="1325880"/>
          </a:xfrm>
        </p:spPr>
        <p:txBody>
          <a:bodyPr>
            <a:normAutofit fontScale="90000"/>
          </a:bodyPr>
          <a:p>
            <a:r>
              <a:rPr lang="en-US" altLang="en-US"/>
              <a:t>Importing Data From Scikit-learn (Contd.)</a:t>
            </a:r>
            <a:endParaRPr lang="en-US" altLang="en-US"/>
          </a:p>
        </p:txBody>
      </p:sp>
      <p:sp>
        <p:nvSpPr>
          <p:cNvPr id="4" name="Content Placeholder 3"/>
          <p:cNvSpPr/>
          <p:nvPr>
            <p:ph idx="1"/>
          </p:nvPr>
        </p:nvSpPr>
        <p:spPr>
          <a:xfrm>
            <a:off x="297815" y="1825625"/>
            <a:ext cx="5492115" cy="4351655"/>
          </a:xfrm>
        </p:spPr>
        <p:txBody>
          <a:bodyPr>
            <a:normAutofit/>
          </a:bodyPr>
          <a:p>
            <a:pPr marL="0" indent="0">
              <a:buNone/>
            </a:pPr>
            <a:r>
              <a:rPr lang="en-US" sz="1800"/>
              <a:t>3. Generating Synthetic Data (`make`)</a:t>
            </a:r>
            <a:endParaRPr lang="en-US" sz="1800"/>
          </a:p>
          <a:p>
            <a:pPr marL="0" indent="0">
              <a:buNone/>
            </a:pPr>
            <a:endParaRPr lang="en-US" sz="1800"/>
          </a:p>
          <a:p>
            <a:pPr marL="0" indent="0">
              <a:buNone/>
            </a:pPr>
            <a:r>
              <a:rPr lang="en-US" sz="1800"/>
              <a:t>If you need to test how a model handles specific problems—like highly correlated features or non-linear data—you can create your own data from scratch.</a:t>
            </a:r>
            <a:endParaRPr lang="en-US" sz="1800"/>
          </a:p>
          <a:p>
            <a:pPr marL="0" indent="0">
              <a:buNone/>
            </a:pPr>
            <a:endParaRPr lang="en-US" sz="1800"/>
          </a:p>
          <a:p>
            <a:pPr marL="0" indent="0">
              <a:buNone/>
            </a:pPr>
            <a:r>
              <a:rPr lang="en-US" sz="1800"/>
              <a:t>* Blobs: `make_blobs()` (Clustering)</a:t>
            </a:r>
            <a:endParaRPr lang="en-US" sz="1800"/>
          </a:p>
          <a:p>
            <a:pPr marL="0" indent="0">
              <a:buNone/>
            </a:pPr>
            <a:r>
              <a:rPr lang="en-US" sz="1800"/>
              <a:t>* Classification: `make_classification()` (Binary or multi-class)</a:t>
            </a:r>
            <a:endParaRPr lang="en-US" sz="1800"/>
          </a:p>
          <a:p>
            <a:pPr marL="0" indent="0">
              <a:buNone/>
            </a:pPr>
            <a:r>
              <a:rPr lang="en-US" sz="1800"/>
              <a:t>* Regression: `make_regression()`</a:t>
            </a:r>
            <a:endParaRPr lang="en-US" sz="1800"/>
          </a:p>
          <a:p>
            <a:endParaRPr lang="en-US" sz="1800"/>
          </a:p>
        </p:txBody>
      </p:sp>
      <p:sp>
        <p:nvSpPr>
          <p:cNvPr id="5" name="Text Box 4"/>
          <p:cNvSpPr txBox="1"/>
          <p:nvPr/>
        </p:nvSpPr>
        <p:spPr>
          <a:xfrm>
            <a:off x="5789930" y="1412240"/>
            <a:ext cx="6133465" cy="4523105"/>
          </a:xfrm>
          <a:prstGeom prst="rect">
            <a:avLst/>
          </a:prstGeom>
          <a:noFill/>
        </p:spPr>
        <p:txBody>
          <a:bodyPr wrap="square" rtlCol="0" anchor="t">
            <a:spAutoFit/>
          </a:bodyPr>
          <a:p>
            <a:r>
              <a:rPr lang="en-US">
                <a:sym typeface="+mn-ea"/>
              </a:rPr>
              <a:t>4. Converting to Pandas DataFrames</a:t>
            </a:r>
            <a:endParaRPr lang="en-US">
              <a:sym typeface="+mn-ea"/>
            </a:endParaRPr>
          </a:p>
          <a:p>
            <a:endParaRPr lang="en-US">
              <a:sym typeface="+mn-ea"/>
            </a:endParaRPr>
          </a:p>
          <a:p>
            <a:r>
              <a:rPr lang="en-US">
                <a:sym typeface="+mn-ea"/>
              </a:rPr>
              <a:t>By default, `sklearn` returns data as NumPy arrays or Bunch objects (which act like dictionaries). However, most modern workflows use Pandas for exploration. You can force `sklearn` to return a DataFrame directly.</a:t>
            </a:r>
            <a:endParaRPr lang="en-US">
              <a:sym typeface="+mn-ea"/>
            </a:endParaRPr>
          </a:p>
          <a:p>
            <a:endParaRPr lang="en-US">
              <a:sym typeface="+mn-ea"/>
            </a:endParaRPr>
          </a:p>
          <a:p>
            <a:r>
              <a:rPr lang="en-US">
                <a:sym typeface="+mn-ea"/>
              </a:rPr>
              <a:t>from sklearn.datasets import load_breast_cancer</a:t>
            </a:r>
            <a:endParaRPr lang="en-US">
              <a:sym typeface="+mn-ea"/>
            </a:endParaRPr>
          </a:p>
          <a:p>
            <a:endParaRPr lang="en-US">
              <a:sym typeface="+mn-ea"/>
            </a:endParaRPr>
          </a:p>
          <a:p>
            <a:r>
              <a:rPr lang="en-US">
                <a:sym typeface="+mn-ea"/>
              </a:rPr>
              <a:t># This returns a Bunch object containing a Pandas DataFrame</a:t>
            </a:r>
            <a:endParaRPr lang="en-US">
              <a:sym typeface="+mn-ea"/>
            </a:endParaRPr>
          </a:p>
          <a:p>
            <a:r>
              <a:rPr lang="en-US">
                <a:sym typeface="+mn-ea"/>
              </a:rPr>
              <a:t>data = load_breast_cancer(as_frame=True)</a:t>
            </a:r>
            <a:endParaRPr lang="en-US">
              <a:sym typeface="+mn-ea"/>
            </a:endParaRPr>
          </a:p>
          <a:p>
            <a:endParaRPr lang="en-US">
              <a:sym typeface="+mn-ea"/>
            </a:endParaRPr>
          </a:p>
          <a:p>
            <a:r>
              <a:rPr lang="en-US">
                <a:sym typeface="+mn-ea"/>
              </a:rPr>
              <a:t>df = data.frame</a:t>
            </a:r>
            <a:endParaRPr lang="en-US">
              <a:sym typeface="+mn-ea"/>
            </a:endParaRPr>
          </a:p>
          <a:p>
            <a:r>
              <a:rPr lang="en-US">
                <a:sym typeface="+mn-ea"/>
              </a:rPr>
              <a:t>print(df.head())</a:t>
            </a:r>
            <a:endParaRPr lang="en-US">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Screenshot from 2026-05-13 14-50-01"/>
          <p:cNvPicPr>
            <a:picLocks noChangeAspect="1"/>
          </p:cNvPicPr>
          <p:nvPr/>
        </p:nvPicPr>
        <p:blipFill>
          <a:blip r:embed="rId1"/>
          <a:stretch>
            <a:fillRect/>
          </a:stretch>
        </p:blipFill>
        <p:spPr>
          <a:xfrm>
            <a:off x="219710" y="-1905"/>
            <a:ext cx="11525250" cy="65805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from 2026-05-13 15-12-06"/>
          <p:cNvPicPr>
            <a:picLocks noChangeAspect="1"/>
          </p:cNvPicPr>
          <p:nvPr/>
        </p:nvPicPr>
        <p:blipFill>
          <a:blip r:embed="rId1"/>
          <a:stretch>
            <a:fillRect/>
          </a:stretch>
        </p:blipFill>
        <p:spPr>
          <a:xfrm>
            <a:off x="292735" y="115570"/>
            <a:ext cx="11223625" cy="64084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from 2026-05-13 15-12-28"/>
          <p:cNvPicPr>
            <a:picLocks noChangeAspect="1"/>
          </p:cNvPicPr>
          <p:nvPr/>
        </p:nvPicPr>
        <p:blipFill>
          <a:blip r:embed="rId1"/>
          <a:stretch>
            <a:fillRect/>
          </a:stretch>
        </p:blipFill>
        <p:spPr>
          <a:xfrm>
            <a:off x="325755" y="133985"/>
            <a:ext cx="11648440" cy="66509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Screenshot from 2026-05-13 15-13-27"/>
          <p:cNvPicPr>
            <a:picLocks noChangeAspect="1"/>
          </p:cNvPicPr>
          <p:nvPr/>
        </p:nvPicPr>
        <p:blipFill>
          <a:blip r:embed="rId1"/>
          <a:stretch>
            <a:fillRect/>
          </a:stretch>
        </p:blipFill>
        <p:spPr>
          <a:xfrm>
            <a:off x="292735" y="115570"/>
            <a:ext cx="11540490" cy="65893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from 2026-05-13 15-59-03"/>
          <p:cNvPicPr>
            <a:picLocks noChangeAspect="1"/>
          </p:cNvPicPr>
          <p:nvPr/>
        </p:nvPicPr>
        <p:blipFill>
          <a:blip r:embed="rId1"/>
          <a:stretch>
            <a:fillRect/>
          </a:stretch>
        </p:blipFill>
        <p:spPr>
          <a:xfrm>
            <a:off x="1272540" y="391160"/>
            <a:ext cx="9398635" cy="4179570"/>
          </a:xfrm>
          <a:prstGeom prst="rect">
            <a:avLst/>
          </a:prstGeom>
        </p:spPr>
      </p:pic>
      <p:pic>
        <p:nvPicPr>
          <p:cNvPr id="3" name="Picture 2" descr="Screenshot from 2026-05-14 10-30-57"/>
          <p:cNvPicPr>
            <a:picLocks noChangeAspect="1"/>
          </p:cNvPicPr>
          <p:nvPr/>
        </p:nvPicPr>
        <p:blipFill>
          <a:blip r:embed="rId2"/>
          <a:stretch>
            <a:fillRect/>
          </a:stretch>
        </p:blipFill>
        <p:spPr>
          <a:xfrm>
            <a:off x="2799080" y="4693920"/>
            <a:ext cx="7155815" cy="14325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Screenshot from 2026-05-14 10-29-00"/>
          <p:cNvPicPr>
            <a:picLocks noChangeAspect="1"/>
          </p:cNvPicPr>
          <p:nvPr/>
        </p:nvPicPr>
        <p:blipFill>
          <a:blip r:embed="rId1"/>
          <a:stretch>
            <a:fillRect/>
          </a:stretch>
        </p:blipFill>
        <p:spPr>
          <a:xfrm>
            <a:off x="1207770" y="69850"/>
            <a:ext cx="9756140" cy="4596765"/>
          </a:xfrm>
          <a:prstGeom prst="rect">
            <a:avLst/>
          </a:prstGeom>
        </p:spPr>
      </p:pic>
      <p:pic>
        <p:nvPicPr>
          <p:cNvPr id="4" name="Picture 3" descr="Screenshot from 2026-05-14 10-33-15"/>
          <p:cNvPicPr>
            <a:picLocks noChangeAspect="1"/>
          </p:cNvPicPr>
          <p:nvPr/>
        </p:nvPicPr>
        <p:blipFill>
          <a:blip r:embed="rId2"/>
          <a:stretch>
            <a:fillRect/>
          </a:stretch>
        </p:blipFill>
        <p:spPr>
          <a:xfrm>
            <a:off x="3641725" y="4752975"/>
            <a:ext cx="6249035" cy="2095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from 2026-05-14 10-35-02"/>
          <p:cNvPicPr>
            <a:picLocks noChangeAspect="1"/>
          </p:cNvPicPr>
          <p:nvPr/>
        </p:nvPicPr>
        <p:blipFill>
          <a:blip r:embed="rId1"/>
          <a:stretch>
            <a:fillRect/>
          </a:stretch>
        </p:blipFill>
        <p:spPr>
          <a:xfrm>
            <a:off x="1132205" y="73660"/>
            <a:ext cx="10057765" cy="4371340"/>
          </a:xfrm>
          <a:prstGeom prst="rect">
            <a:avLst/>
          </a:prstGeom>
        </p:spPr>
      </p:pic>
      <p:pic>
        <p:nvPicPr>
          <p:cNvPr id="5" name="Picture 4" descr="Screenshot from 2026-05-14 10-36-37"/>
          <p:cNvPicPr>
            <a:picLocks noChangeAspect="1"/>
          </p:cNvPicPr>
          <p:nvPr/>
        </p:nvPicPr>
        <p:blipFill>
          <a:blip r:embed="rId2"/>
          <a:stretch>
            <a:fillRect/>
          </a:stretch>
        </p:blipFill>
        <p:spPr>
          <a:xfrm>
            <a:off x="451485" y="4682490"/>
            <a:ext cx="6134735" cy="1607820"/>
          </a:xfrm>
          <a:prstGeom prst="rect">
            <a:avLst/>
          </a:prstGeom>
        </p:spPr>
      </p:pic>
      <p:pic>
        <p:nvPicPr>
          <p:cNvPr id="6" name="Picture 5" descr="Screenshot from 2026-05-14 10-43-54"/>
          <p:cNvPicPr>
            <a:picLocks noChangeAspect="1"/>
          </p:cNvPicPr>
          <p:nvPr/>
        </p:nvPicPr>
        <p:blipFill>
          <a:blip r:embed="rId3"/>
          <a:stretch>
            <a:fillRect/>
          </a:stretch>
        </p:blipFill>
        <p:spPr>
          <a:xfrm>
            <a:off x="6880860" y="5135880"/>
            <a:ext cx="4686935" cy="7010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a:picLocks noChangeAspect="1"/>
          </p:cNvPicPr>
          <p:nvPr/>
        </p:nvPicPr>
        <p:blipFill>
          <a:blip r:embed="rId1"/>
          <a:stretch>
            <a:fillRect/>
          </a:stretch>
        </p:blipFill>
        <p:spPr>
          <a:xfrm>
            <a:off x="3227705" y="219710"/>
            <a:ext cx="5410835" cy="723900"/>
          </a:xfrm>
          <a:prstGeom prst="rect">
            <a:avLst/>
          </a:prstGeom>
        </p:spPr>
      </p:pic>
      <p:pic>
        <p:nvPicPr>
          <p:cNvPr id="4" name="Picture 3"/>
          <p:cNvPicPr>
            <a:picLocks noChangeAspect="1"/>
          </p:cNvPicPr>
          <p:nvPr/>
        </p:nvPicPr>
        <p:blipFill>
          <a:blip r:embed="rId2"/>
          <a:stretch>
            <a:fillRect/>
          </a:stretch>
        </p:blipFill>
        <p:spPr>
          <a:xfrm>
            <a:off x="47625" y="1988820"/>
            <a:ext cx="5871210" cy="2880360"/>
          </a:xfrm>
          <a:prstGeom prst="rect">
            <a:avLst/>
          </a:prstGeom>
        </p:spPr>
      </p:pic>
      <p:pic>
        <p:nvPicPr>
          <p:cNvPr id="9" name="Picture 8"/>
          <p:cNvPicPr>
            <a:picLocks noChangeAspect="1"/>
          </p:cNvPicPr>
          <p:nvPr/>
        </p:nvPicPr>
        <p:blipFill>
          <a:blip r:embed="rId3"/>
          <a:stretch>
            <a:fillRect/>
          </a:stretch>
        </p:blipFill>
        <p:spPr>
          <a:xfrm>
            <a:off x="5962015" y="1173480"/>
            <a:ext cx="5893435" cy="1793240"/>
          </a:xfrm>
          <a:prstGeom prst="rect">
            <a:avLst/>
          </a:prstGeom>
        </p:spPr>
      </p:pic>
      <p:sp>
        <p:nvSpPr>
          <p:cNvPr id="11" name="Text Box 10"/>
          <p:cNvSpPr txBox="1"/>
          <p:nvPr/>
        </p:nvSpPr>
        <p:spPr>
          <a:xfrm>
            <a:off x="5854065" y="3203575"/>
            <a:ext cx="6621780" cy="3138170"/>
          </a:xfrm>
          <a:prstGeom prst="rect">
            <a:avLst/>
          </a:prstGeom>
          <a:noFill/>
        </p:spPr>
        <p:txBody>
          <a:bodyPr wrap="square" rtlCol="0" anchor="t">
            <a:spAutoFit/>
          </a:bodyPr>
          <a:p>
            <a:r>
              <a:rPr lang="en-US"/>
              <a:t># 1. Initialize the Imputer (using the 'mean/median/most_frequent/constant' strategy)</a:t>
            </a:r>
            <a:endParaRPr lang="en-US"/>
          </a:p>
          <a:p>
            <a:r>
              <a:rPr lang="en-US"/>
              <a:t>imputer = SimpleImputer(strategy='constant')</a:t>
            </a:r>
            <a:endParaRPr lang="en-US"/>
          </a:p>
          <a:p>
            <a:endParaRPr lang="en-US"/>
          </a:p>
          <a:p>
            <a:r>
              <a:rPr lang="en-US"/>
              <a:t># 2. Fit and Transform the data</a:t>
            </a:r>
            <a:endParaRPr lang="en-US"/>
          </a:p>
          <a:p>
            <a:r>
              <a:rPr lang="en-US"/>
              <a:t># Note: Imputers expect 2D arrays, so we pass the whole DataFrame or specific columns</a:t>
            </a:r>
            <a:endParaRPr lang="en-US"/>
          </a:p>
          <a:p>
            <a:r>
              <a:rPr lang="en-US"/>
              <a:t>df_imputed = pd.DataFrame(imputer.fit_transform(df), columns=df.columns)</a:t>
            </a:r>
            <a:endParaRPr lang="en-US"/>
          </a:p>
          <a:p>
            <a:endParaRPr lang="en-US"/>
          </a:p>
          <a:p>
            <a:r>
              <a:rPr lang="en-US"/>
              <a:t>print(df_imputed)</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a:picLocks noChangeAspect="1"/>
          </p:cNvPicPr>
          <p:nvPr/>
        </p:nvPicPr>
        <p:blipFill>
          <a:blip r:embed="rId1"/>
          <a:stretch>
            <a:fillRect/>
          </a:stretch>
        </p:blipFill>
        <p:spPr>
          <a:xfrm>
            <a:off x="3227705" y="153670"/>
            <a:ext cx="5410835" cy="723900"/>
          </a:xfrm>
          <a:prstGeom prst="rect">
            <a:avLst/>
          </a:prstGeom>
        </p:spPr>
      </p:pic>
      <p:pic>
        <p:nvPicPr>
          <p:cNvPr id="8" name="Picture 7"/>
          <p:cNvPicPr>
            <a:picLocks noChangeAspect="1"/>
          </p:cNvPicPr>
          <p:nvPr/>
        </p:nvPicPr>
        <p:blipFill>
          <a:blip r:embed="rId2"/>
          <a:stretch>
            <a:fillRect/>
          </a:stretch>
        </p:blipFill>
        <p:spPr>
          <a:xfrm>
            <a:off x="7692390" y="3060700"/>
            <a:ext cx="4342765" cy="1371600"/>
          </a:xfrm>
          <a:prstGeom prst="rect">
            <a:avLst/>
          </a:prstGeom>
        </p:spPr>
      </p:pic>
      <p:pic>
        <p:nvPicPr>
          <p:cNvPr id="2" name="Picture 1"/>
          <p:cNvPicPr>
            <a:picLocks noChangeAspect="1"/>
          </p:cNvPicPr>
          <p:nvPr/>
        </p:nvPicPr>
        <p:blipFill>
          <a:blip r:embed="rId3"/>
          <a:stretch>
            <a:fillRect/>
          </a:stretch>
        </p:blipFill>
        <p:spPr>
          <a:xfrm>
            <a:off x="156210" y="1001395"/>
            <a:ext cx="6569075" cy="1638300"/>
          </a:xfrm>
          <a:prstGeom prst="rect">
            <a:avLst/>
          </a:prstGeom>
        </p:spPr>
      </p:pic>
      <p:sp>
        <p:nvSpPr>
          <p:cNvPr id="5" name="Text Box 4"/>
          <p:cNvSpPr txBox="1"/>
          <p:nvPr/>
        </p:nvSpPr>
        <p:spPr>
          <a:xfrm>
            <a:off x="156210" y="2905125"/>
            <a:ext cx="9163685" cy="3692525"/>
          </a:xfrm>
          <a:prstGeom prst="rect">
            <a:avLst/>
          </a:prstGeom>
          <a:noFill/>
        </p:spPr>
        <p:txBody>
          <a:bodyPr wrap="square" rtlCol="0" anchor="t">
            <a:spAutoFit/>
          </a:bodyPr>
          <a:p>
            <a:r>
              <a:rPr lang="en-US"/>
              <a:t># You must import this line to enable the imputer</a:t>
            </a:r>
            <a:endParaRPr lang="en-US"/>
          </a:p>
          <a:p>
            <a:r>
              <a:rPr lang="en-US"/>
              <a:t>from sklearn.experimental import enable_iterative_imputer</a:t>
            </a:r>
            <a:endParaRPr lang="en-US"/>
          </a:p>
          <a:p>
            <a:r>
              <a:rPr lang="en-US"/>
              <a:t>from sklearn.impute import IterativeImputer</a:t>
            </a:r>
            <a:endParaRPr lang="en-US"/>
          </a:p>
          <a:p>
            <a:endParaRPr lang="en-US"/>
          </a:p>
          <a:p>
            <a:r>
              <a:rPr lang="en-US"/>
              <a:t># 1. Initialize the Imputer</a:t>
            </a:r>
            <a:endParaRPr lang="en-US"/>
          </a:p>
          <a:p>
            <a:r>
              <a:rPr lang="en-US"/>
              <a:t># It defaults to BayesianRidge regression as the "predictor"</a:t>
            </a:r>
            <a:endParaRPr lang="en-US"/>
          </a:p>
          <a:p>
            <a:r>
              <a:rPr lang="en-US"/>
              <a:t>it_imputer = IterativeImputer(max_iter=10, random_state=0)</a:t>
            </a:r>
            <a:endParaRPr lang="en-US"/>
          </a:p>
          <a:p>
            <a:endParaRPr lang="en-US"/>
          </a:p>
          <a:p>
            <a:r>
              <a:rPr lang="en-US"/>
              <a:t># 2. Fit and Transform</a:t>
            </a:r>
            <a:endParaRPr lang="en-US"/>
          </a:p>
          <a:p>
            <a:r>
              <a:rPr lang="en-US"/>
              <a:t>df_imputed = pd.DataFrame(it_imputer.fit_transform(df), columns=df.columns)</a:t>
            </a:r>
            <a:endParaRPr lang="en-US"/>
          </a:p>
          <a:p>
            <a:endParaRPr lang="en-US"/>
          </a:p>
          <a:p>
            <a:r>
              <a:rPr lang="en-US"/>
              <a:t>print(df_imputed)</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from 2026-05-13 15-15-54"/>
          <p:cNvPicPr>
            <a:picLocks noChangeAspect="1"/>
          </p:cNvPicPr>
          <p:nvPr/>
        </p:nvPicPr>
        <p:blipFill>
          <a:blip r:embed="rId1"/>
          <a:stretch>
            <a:fillRect/>
          </a:stretch>
        </p:blipFill>
        <p:spPr>
          <a:xfrm>
            <a:off x="336550" y="140335"/>
            <a:ext cx="11367135" cy="649033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a:picLocks noChangeAspect="1"/>
          </p:cNvPicPr>
          <p:nvPr/>
        </p:nvPicPr>
        <p:blipFill>
          <a:blip r:embed="rId1"/>
          <a:stretch>
            <a:fillRect/>
          </a:stretch>
        </p:blipFill>
        <p:spPr>
          <a:xfrm>
            <a:off x="4262755" y="79375"/>
            <a:ext cx="3665855" cy="662940"/>
          </a:xfrm>
          <a:prstGeom prst="rect">
            <a:avLst/>
          </a:prstGeom>
        </p:spPr>
      </p:pic>
      <p:sp>
        <p:nvSpPr>
          <p:cNvPr id="4" name="Text Box 3"/>
          <p:cNvSpPr txBox="1"/>
          <p:nvPr/>
        </p:nvSpPr>
        <p:spPr>
          <a:xfrm>
            <a:off x="675005" y="752475"/>
            <a:ext cx="11109960" cy="1753235"/>
          </a:xfrm>
          <a:prstGeom prst="rect">
            <a:avLst/>
          </a:prstGeom>
          <a:noFill/>
        </p:spPr>
        <p:txBody>
          <a:bodyPr wrap="square" rtlCol="0" anchor="t">
            <a:spAutoFit/>
          </a:bodyPr>
          <a:p>
            <a:r>
              <a:rPr lang="en-US" b="1"/>
              <a:t>Data integration</a:t>
            </a:r>
            <a:r>
              <a:rPr lang="en-US"/>
              <a:t> is the process of combining data from different sources into a unified view. In the context of data cleaning, this is where you handle inconsistencies between datasets, such as different naming conventions, duplicate records, or mismatched scales.</a:t>
            </a:r>
            <a:endParaRPr lang="en-US"/>
          </a:p>
          <a:p>
            <a:endParaRPr lang="en-US"/>
          </a:p>
          <a:p>
            <a:r>
              <a:rPr lang="en-US"/>
              <a:t>In Python, Pandas is the primary tool for this task, using three main operations: Merging, Joining, and Concatenating.</a:t>
            </a:r>
            <a:endParaRPr lang="en-US"/>
          </a:p>
        </p:txBody>
      </p:sp>
      <p:sp>
        <p:nvSpPr>
          <p:cNvPr id="5" name="Text Box 4"/>
          <p:cNvSpPr txBox="1"/>
          <p:nvPr/>
        </p:nvSpPr>
        <p:spPr>
          <a:xfrm>
            <a:off x="637540" y="2642235"/>
            <a:ext cx="10894060" cy="922020"/>
          </a:xfrm>
          <a:prstGeom prst="rect">
            <a:avLst/>
          </a:prstGeom>
          <a:noFill/>
        </p:spPr>
        <p:txBody>
          <a:bodyPr wrap="square" rtlCol="0" anchor="t">
            <a:spAutoFit/>
          </a:bodyPr>
          <a:p>
            <a:r>
              <a:rPr lang="en-US" b="1"/>
              <a:t>1. Merging (Database-style Joins)</a:t>
            </a:r>
            <a:endParaRPr lang="en-US"/>
          </a:p>
          <a:p>
            <a:r>
              <a:rPr lang="en-US"/>
              <a:t>Merging is used when you want to combine two DataFrames based on a common "key" column (like a User_ID).</a:t>
            </a:r>
            <a:endParaRPr lang="en-US"/>
          </a:p>
        </p:txBody>
      </p:sp>
      <p:pic>
        <p:nvPicPr>
          <p:cNvPr id="6" name="Picture 5"/>
          <p:cNvPicPr>
            <a:picLocks noChangeAspect="1"/>
          </p:cNvPicPr>
          <p:nvPr/>
        </p:nvPicPr>
        <p:blipFill>
          <a:blip r:embed="rId2"/>
          <a:stretch>
            <a:fillRect/>
          </a:stretch>
        </p:blipFill>
        <p:spPr>
          <a:xfrm>
            <a:off x="746760" y="3712845"/>
            <a:ext cx="7087235" cy="1310640"/>
          </a:xfrm>
          <a:prstGeom prst="rect">
            <a:avLst/>
          </a:prstGeom>
        </p:spPr>
      </p:pic>
      <p:sp>
        <p:nvSpPr>
          <p:cNvPr id="7" name="Text Box 6"/>
          <p:cNvSpPr txBox="1"/>
          <p:nvPr/>
        </p:nvSpPr>
        <p:spPr>
          <a:xfrm>
            <a:off x="86995" y="5274310"/>
            <a:ext cx="8905240" cy="1198880"/>
          </a:xfrm>
          <a:prstGeom prst="rect">
            <a:avLst/>
          </a:prstGeom>
          <a:noFill/>
        </p:spPr>
        <p:txBody>
          <a:bodyPr wrap="square" rtlCol="0" anchor="t">
            <a:spAutoFit/>
          </a:bodyPr>
          <a:p>
            <a:r>
              <a:rPr lang="en-US"/>
              <a:t>Types of Joins:</a:t>
            </a:r>
            <a:endParaRPr lang="en-US"/>
          </a:p>
          <a:p>
            <a:r>
              <a:rPr lang="en-US"/>
              <a:t>Inner: Only keeps rows where the key exists in both datasets.</a:t>
            </a:r>
            <a:endParaRPr lang="en-US"/>
          </a:p>
          <a:p>
            <a:r>
              <a:rPr lang="en-US"/>
              <a:t>Outer: Keeps all rows from both datasets, filling missing values with NaN.</a:t>
            </a:r>
            <a:endParaRPr lang="en-US"/>
          </a:p>
          <a:p>
            <a:r>
              <a:rPr lang="en-US"/>
              <a:t>Left/Right: Keeps all rows from one side and only matches from the other.</a:t>
            </a:r>
            <a:endParaRPr lang="en-US"/>
          </a:p>
        </p:txBody>
      </p:sp>
      <p:pic>
        <p:nvPicPr>
          <p:cNvPr id="8" name="Picture 7"/>
          <p:cNvPicPr>
            <a:picLocks noChangeAspect="1"/>
          </p:cNvPicPr>
          <p:nvPr/>
        </p:nvPicPr>
        <p:blipFill>
          <a:blip r:embed="rId3"/>
          <a:stretch>
            <a:fillRect/>
          </a:stretch>
        </p:blipFill>
        <p:spPr>
          <a:xfrm>
            <a:off x="8794115" y="3388360"/>
            <a:ext cx="3222625" cy="285813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a:picLocks noChangeAspect="1"/>
          </p:cNvPicPr>
          <p:nvPr/>
        </p:nvPicPr>
        <p:blipFill>
          <a:blip r:embed="rId1"/>
          <a:stretch>
            <a:fillRect/>
          </a:stretch>
        </p:blipFill>
        <p:spPr>
          <a:xfrm>
            <a:off x="4262755" y="-3175"/>
            <a:ext cx="3665855" cy="662940"/>
          </a:xfrm>
          <a:prstGeom prst="rect">
            <a:avLst/>
          </a:prstGeom>
        </p:spPr>
      </p:pic>
      <p:sp>
        <p:nvSpPr>
          <p:cNvPr id="4" name="Text Box 3"/>
          <p:cNvSpPr txBox="1"/>
          <p:nvPr/>
        </p:nvSpPr>
        <p:spPr>
          <a:xfrm>
            <a:off x="675005" y="528955"/>
            <a:ext cx="11109960" cy="6462395"/>
          </a:xfrm>
          <a:prstGeom prst="rect">
            <a:avLst/>
          </a:prstGeom>
          <a:noFill/>
        </p:spPr>
        <p:txBody>
          <a:bodyPr wrap="square" rtlCol="0" anchor="t">
            <a:spAutoFit/>
          </a:bodyPr>
          <a:p>
            <a:r>
              <a:rPr lang="en-US" b="1"/>
              <a:t>2. </a:t>
            </a:r>
            <a:r>
              <a:rPr lang="en-US" b="1"/>
              <a:t>Concatenation (Stacking Data)</a:t>
            </a:r>
            <a:r>
              <a:rPr lang="en-US" altLang="en-US" b="1"/>
              <a:t>:</a:t>
            </a:r>
            <a:r>
              <a:rPr lang="en-US" altLang="en-US"/>
              <a:t> </a:t>
            </a:r>
            <a:r>
              <a:rPr lang="en-US"/>
              <a:t>Concatenation is used when you have multiple files with the same columns (e.g., "Sales_Jan.csv" and "Sales_Feb.csv") and you want to glue them together.</a:t>
            </a:r>
            <a:endParaRPr lang="en-US"/>
          </a:p>
          <a:p>
            <a:endParaRPr lang="en-US"/>
          </a:p>
          <a:p>
            <a:r>
              <a:rPr lang="en-US"/>
              <a:t>Vertical (axis=0): Stacks rows on top of each other.</a:t>
            </a:r>
            <a:endParaRPr lang="en-US"/>
          </a:p>
          <a:p>
            <a:r>
              <a:rPr lang="en-US"/>
              <a:t>Horizontal (axis=1): Places columns side-by-side.</a:t>
            </a:r>
            <a:endParaRPr lang="en-US"/>
          </a:p>
          <a:p>
            <a:endParaRPr lang="en-US"/>
          </a:p>
          <a:p>
            <a:r>
              <a:rPr lang="en-US"/>
              <a:t># Stacking multiple monthly reports into one year</a:t>
            </a:r>
            <a:endParaRPr lang="en-US"/>
          </a:p>
          <a:p>
            <a:r>
              <a:rPr lang="en-US"/>
              <a:t>all_sales = pd.concat([jan_df, feb_df, mar_df], axis=0)</a:t>
            </a:r>
            <a:endParaRPr lang="en-US"/>
          </a:p>
          <a:p>
            <a:endParaRPr lang="en-US"/>
          </a:p>
          <a:p>
            <a:r>
              <a:rPr lang="en-US" b="1"/>
              <a:t>3. Cleaning During Integration</a:t>
            </a:r>
            <a:r>
              <a:rPr lang="" altLang="en-US" b="1"/>
              <a:t>: </a:t>
            </a:r>
            <a:r>
              <a:rPr lang="en-US"/>
              <a:t>Integration often reveals new cleaning issues. Here is how to handle them as you merge:</a:t>
            </a:r>
            <a:endParaRPr lang="en-US"/>
          </a:p>
          <a:p>
            <a:endParaRPr lang="en-US"/>
          </a:p>
          <a:p>
            <a:r>
              <a:rPr lang="en-US" b="1"/>
              <a:t>A. Handling Duplicate Columns</a:t>
            </a:r>
            <a:endParaRPr lang="en-US"/>
          </a:p>
          <a:p>
            <a:r>
              <a:rPr lang="en-US"/>
              <a:t>If both datasets have a column named Date, Pandas will create Date_x and Date_y.</a:t>
            </a:r>
            <a:endParaRPr lang="en-US"/>
          </a:p>
          <a:p>
            <a:r>
              <a:rPr lang="en-US"/>
              <a:t>Fix: Use the suffixes parameter in merge() to label them clearly, or drop the redundant column after checking that the data matches.</a:t>
            </a:r>
            <a:endParaRPr lang="en-US"/>
          </a:p>
          <a:p>
            <a:endParaRPr lang="en-US"/>
          </a:p>
          <a:p>
            <a:r>
              <a:rPr lang="en-US" b="1"/>
              <a:t>B. Fixing Inconsistent Keys</a:t>
            </a:r>
            <a:endParaRPr lang="en-US"/>
          </a:p>
          <a:p>
            <a:r>
              <a:rPr lang="en-US"/>
              <a:t>If one dataset has User_ID and the other has user_id, you must align them before merging.</a:t>
            </a:r>
            <a:endParaRPr lang="en-US"/>
          </a:p>
          <a:p>
            <a:endParaRPr lang="en-US"/>
          </a:p>
          <a:p>
            <a:r>
              <a:rPr lang="en-US"/>
              <a:t># Rename for alignment</a:t>
            </a:r>
            <a:endParaRPr lang="en-US"/>
          </a:p>
          <a:p>
            <a:r>
              <a:rPr lang="en-US"/>
              <a:t>df2 = df2.rename(columns={'user_id': 'User_ID'})</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a:picLocks noChangeAspect="1"/>
          </p:cNvPicPr>
          <p:nvPr/>
        </p:nvPicPr>
        <p:blipFill>
          <a:blip r:embed="rId1"/>
          <a:stretch>
            <a:fillRect/>
          </a:stretch>
        </p:blipFill>
        <p:spPr>
          <a:xfrm>
            <a:off x="4262755" y="79375"/>
            <a:ext cx="3665855" cy="662940"/>
          </a:xfrm>
          <a:prstGeom prst="rect">
            <a:avLst/>
          </a:prstGeom>
        </p:spPr>
      </p:pic>
      <p:sp>
        <p:nvSpPr>
          <p:cNvPr id="4" name="Text Box 3"/>
          <p:cNvSpPr txBox="1"/>
          <p:nvPr/>
        </p:nvSpPr>
        <p:spPr>
          <a:xfrm>
            <a:off x="675005" y="842645"/>
            <a:ext cx="11109960" cy="4799965"/>
          </a:xfrm>
          <a:prstGeom prst="rect">
            <a:avLst/>
          </a:prstGeom>
          <a:noFill/>
        </p:spPr>
        <p:txBody>
          <a:bodyPr wrap="square" rtlCol="0" anchor="t">
            <a:spAutoFit/>
          </a:bodyPr>
          <a:p>
            <a:r>
              <a:rPr lang="en-US" b="1"/>
              <a:t>C. Data Type Alignment</a:t>
            </a:r>
            <a:endParaRPr lang="en-US"/>
          </a:p>
          <a:p>
            <a:r>
              <a:rPr lang="en-US"/>
              <a:t>Merging will fail or produce incorrect results if a key is a String in one table and an Integer in another.</a:t>
            </a:r>
            <a:endParaRPr lang="en-US"/>
          </a:p>
          <a:p>
            <a:endParaRPr lang="en-US"/>
          </a:p>
          <a:p>
            <a:r>
              <a:rPr lang="en-US"/>
              <a:t># Ensure keys are the same type</a:t>
            </a:r>
            <a:endParaRPr lang="en-US"/>
          </a:p>
          <a:p>
            <a:r>
              <a:rPr lang="en-US"/>
              <a:t>df1['User_ID'] = df1['User_ID'].astype(int)</a:t>
            </a:r>
            <a:endParaRPr lang="en-US"/>
          </a:p>
          <a:p>
            <a:r>
              <a:rPr lang="en-US"/>
              <a:t>df2['User_ID'] = df2['User_ID'].astype(int)</a:t>
            </a:r>
            <a:endParaRPr lang="en-US"/>
          </a:p>
          <a:p>
            <a:endParaRPr lang="en-US"/>
          </a:p>
          <a:p>
            <a:r>
              <a:rPr lang="en-US" b="1"/>
              <a:t>4. Advanced Integration: Fuzzy Matching</a:t>
            </a:r>
            <a:endParaRPr lang="en-US"/>
          </a:p>
          <a:p>
            <a:r>
              <a:rPr lang="en-US"/>
              <a:t>Sometimes keys don't match perfectly (e.g., "Apple Inc." vs "Apple"). For this, you use FuzzyWuzzy or TheFuzz.</a:t>
            </a:r>
            <a:endParaRPr lang="en-US"/>
          </a:p>
          <a:p>
            <a:endParaRPr lang="en-US"/>
          </a:p>
          <a:p>
            <a:r>
              <a:rPr lang="en-US"/>
              <a:t>from thefuzz import process</a:t>
            </a:r>
            <a:endParaRPr lang="en-US"/>
          </a:p>
          <a:p>
            <a:endParaRPr lang="en-US"/>
          </a:p>
          <a:p>
            <a:r>
              <a:rPr lang="en-US"/>
              <a:t># Find the best match for a name from a list of possibilities</a:t>
            </a:r>
            <a:endParaRPr lang="en-US"/>
          </a:p>
          <a:p>
            <a:r>
              <a:rPr lang="en-US"/>
              <a:t>best_match = process.extractOne("Apple", ["Apple Inc.", "Microsoft", "Google"])</a:t>
            </a:r>
            <a:endParaRPr lang="en-US"/>
          </a:p>
          <a:p>
            <a:r>
              <a:rPr lang="en-US"/>
              <a:t>print(best_match) # Output: ('Apple Inc.', 90)</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Screenshot from 2026-05-13 15-17-05"/>
          <p:cNvPicPr>
            <a:picLocks noChangeAspect="1"/>
          </p:cNvPicPr>
          <p:nvPr/>
        </p:nvPicPr>
        <p:blipFill>
          <a:blip r:embed="rId1"/>
          <a:stretch>
            <a:fillRect/>
          </a:stretch>
        </p:blipFill>
        <p:spPr>
          <a:xfrm>
            <a:off x="194945" y="59690"/>
            <a:ext cx="11595100" cy="662051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64210" y="767080"/>
            <a:ext cx="11109960" cy="5908040"/>
          </a:xfrm>
          <a:prstGeom prst="rect">
            <a:avLst/>
          </a:prstGeom>
          <a:noFill/>
        </p:spPr>
        <p:txBody>
          <a:bodyPr wrap="square" rtlCol="0" anchor="t">
            <a:spAutoFit/>
          </a:bodyPr>
          <a:p>
            <a:r>
              <a:rPr lang="en-US" b="1"/>
              <a:t>Encoding categorical data</a:t>
            </a:r>
            <a:r>
              <a:rPr lang="en-US"/>
              <a:t> is the process of converting text-based information (like "Red", "Blue", or "High", "Low") into numerical values that machine learning algorithms can process.</a:t>
            </a:r>
            <a:endParaRPr lang="en-US"/>
          </a:p>
          <a:p>
            <a:endParaRPr lang="en-US"/>
          </a:p>
          <a:p>
            <a:r>
              <a:rPr lang="en-US"/>
              <a:t>In scikit-learn, there are two primary tools for this, and choosing the right one depends on whether your data has a natural order.</a:t>
            </a:r>
            <a:endParaRPr lang="en-US"/>
          </a:p>
          <a:p>
            <a:endParaRPr lang="en-US"/>
          </a:p>
          <a:p>
            <a:r>
              <a:rPr lang="en-US" b="1"/>
              <a:t>1. LabelEncoder (Ordinal Data)</a:t>
            </a:r>
            <a:r>
              <a:rPr lang="en-US" altLang="en-US" b="1"/>
              <a:t>:</a:t>
            </a:r>
            <a:r>
              <a:rPr lang="en-US" altLang="en-US"/>
              <a:t> </a:t>
            </a:r>
            <a:r>
              <a:rPr lang="en-US"/>
              <a:t>Use this when your categories have a rank or order (e.g., "Low" &lt; "Medium" &lt; "High"). It converts each label into a unique integer ($0, 1, 2, \dots$). Note: Technically, LabelEncoder is designed for the target variable ($y$). If you are encoding features ($X$), OrdinalEncoder is the preferred tool.</a:t>
            </a:r>
            <a:endParaRPr lang="en-US"/>
          </a:p>
          <a:p>
            <a:endParaRPr lang="en-US"/>
          </a:p>
          <a:p>
            <a:r>
              <a:rPr lang="en-US"/>
              <a:t>from sklearn.preprocessing import OrdinalEncoder</a:t>
            </a:r>
            <a:endParaRPr lang="en-US"/>
          </a:p>
          <a:p>
            <a:r>
              <a:rPr lang="en-US"/>
              <a:t>import pandas as pd</a:t>
            </a:r>
            <a:endParaRPr lang="en-US"/>
          </a:p>
          <a:p>
            <a:endParaRPr lang="en-US"/>
          </a:p>
          <a:p>
            <a:r>
              <a:rPr lang="en-US"/>
              <a:t>df = pd.DataFrame({'Size': ['Small', 'Medium', 'Large', 'Medium']})</a:t>
            </a:r>
            <a:endParaRPr lang="en-US"/>
          </a:p>
          <a:p>
            <a:endParaRPr lang="en-US"/>
          </a:p>
          <a:p>
            <a:r>
              <a:rPr lang="en-US"/>
              <a:t># Define the order manually to ensure 'Large' &gt; 'Small'</a:t>
            </a:r>
            <a:endParaRPr lang="en-US"/>
          </a:p>
          <a:p>
            <a:r>
              <a:rPr lang="en-US"/>
              <a:t>encoder = OrdinalEncoder(categories=[['Small', 'Medium', 'Large']])</a:t>
            </a:r>
            <a:endParaRPr lang="en-US"/>
          </a:p>
          <a:p>
            <a:endParaRPr lang="en-US"/>
          </a:p>
          <a:p>
            <a:r>
              <a:rPr lang="en-US"/>
              <a:t>df['Size_Encoded'] = encoder.fit_transform(df[['Size']])</a:t>
            </a:r>
            <a:endParaRPr lang="en-US"/>
          </a:p>
          <a:p>
            <a:r>
              <a:rPr lang="en-US"/>
              <a:t>print(df)</a:t>
            </a:r>
            <a:endParaRPr lang="en-US"/>
          </a:p>
        </p:txBody>
      </p:sp>
      <p:pic>
        <p:nvPicPr>
          <p:cNvPr id="2" name="Picture 1"/>
          <p:cNvPicPr>
            <a:picLocks noChangeAspect="1"/>
          </p:cNvPicPr>
          <p:nvPr/>
        </p:nvPicPr>
        <p:blipFill>
          <a:blip r:embed="rId1"/>
          <a:stretch>
            <a:fillRect/>
          </a:stretch>
        </p:blipFill>
        <p:spPr>
          <a:xfrm>
            <a:off x="3976370" y="73025"/>
            <a:ext cx="3102610" cy="5181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64210" y="767080"/>
            <a:ext cx="11109960" cy="4523105"/>
          </a:xfrm>
          <a:prstGeom prst="rect">
            <a:avLst/>
          </a:prstGeom>
          <a:noFill/>
        </p:spPr>
        <p:txBody>
          <a:bodyPr wrap="square" rtlCol="0" anchor="t">
            <a:spAutoFit/>
          </a:bodyPr>
          <a:p>
            <a:r>
              <a:rPr lang="en-US" b="1"/>
              <a:t>2. OneHotEncoder (Nominal Data)</a:t>
            </a:r>
            <a:r>
              <a:rPr lang="en-US" altLang="en-US" b="1"/>
              <a:t>:</a:t>
            </a:r>
            <a:r>
              <a:rPr lang="en-US" altLang="en-US"/>
              <a:t> </a:t>
            </a:r>
            <a:r>
              <a:rPr lang="en-US"/>
              <a:t>Use this when there is no mathematical order (e.g., "City Names" or "Colors"). If you used integers (1, 2, 3) for "Red, Blue, Green," the model might mistakenly think Green ($3$) is "greater" than Red ($1$).OneHotEncoder creates a new binary column ($0$ or $1$) for each unique category.Pythonfrom sklearn.preprocessing import OneHotEncoder</a:t>
            </a:r>
            <a:endParaRPr lang="en-US"/>
          </a:p>
          <a:p>
            <a:endParaRPr lang="en-US"/>
          </a:p>
          <a:p>
            <a:r>
              <a:rPr lang="en-US"/>
              <a:t>df = pd.DataFrame({'Color': ['Red', 'Blue', 'Green']})</a:t>
            </a:r>
            <a:endParaRPr lang="en-US"/>
          </a:p>
          <a:p>
            <a:endParaRPr lang="en-US"/>
          </a:p>
          <a:p>
            <a:r>
              <a:rPr lang="en-US"/>
              <a:t># sparse_output=False returns a readable array instead of a matrix</a:t>
            </a:r>
            <a:endParaRPr lang="en-US"/>
          </a:p>
          <a:p>
            <a:r>
              <a:rPr lang="en-US"/>
              <a:t>encoder = OneHotEncoder(sparse_output=False)</a:t>
            </a:r>
            <a:endParaRPr lang="en-US"/>
          </a:p>
          <a:p>
            <a:endParaRPr lang="en-US"/>
          </a:p>
          <a:p>
            <a:r>
              <a:rPr lang="en-US"/>
              <a:t>encoded_data = encoder.fit_transform(df[['Color']])</a:t>
            </a:r>
            <a:endParaRPr lang="en-US"/>
          </a:p>
          <a:p>
            <a:r>
              <a:rPr lang="en-US"/>
              <a:t># Convert back to a DataFrame with clear column names</a:t>
            </a:r>
            <a:endParaRPr lang="en-US"/>
          </a:p>
          <a:p>
            <a:r>
              <a:rPr lang="en-US"/>
              <a:t>encoded_df = pd.DataFrame(encoded_data, columns=encoder.get_feature_names_out())</a:t>
            </a:r>
            <a:endParaRPr lang="en-US"/>
          </a:p>
          <a:p>
            <a:endParaRPr lang="en-US"/>
          </a:p>
          <a:p>
            <a:r>
              <a:rPr lang="en-US"/>
              <a:t>print(encoded_df)</a:t>
            </a:r>
            <a:endParaRPr lang="en-US"/>
          </a:p>
        </p:txBody>
      </p:sp>
      <p:pic>
        <p:nvPicPr>
          <p:cNvPr id="2" name="Picture 1"/>
          <p:cNvPicPr>
            <a:picLocks noChangeAspect="1"/>
          </p:cNvPicPr>
          <p:nvPr/>
        </p:nvPicPr>
        <p:blipFill>
          <a:blip r:embed="rId1"/>
          <a:stretch>
            <a:fillRect/>
          </a:stretch>
        </p:blipFill>
        <p:spPr>
          <a:xfrm>
            <a:off x="3976370" y="73025"/>
            <a:ext cx="3719195" cy="5181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64210" y="767080"/>
            <a:ext cx="11109960" cy="5908040"/>
          </a:xfrm>
          <a:prstGeom prst="rect">
            <a:avLst/>
          </a:prstGeom>
          <a:noFill/>
        </p:spPr>
        <p:txBody>
          <a:bodyPr wrap="square" rtlCol="0" anchor="t">
            <a:spAutoFit/>
          </a:bodyPr>
          <a:p>
            <a:r>
              <a:rPr lang="en-US" b="1"/>
              <a:t>Data smoothing</a:t>
            </a:r>
            <a:r>
              <a:rPr lang="en-US"/>
              <a:t> is a technique used to remove "noise" or short-term fluctuations from a dataset to reveal the underlying trend. This is essential in time-series analysis, signal processing, and financial modeling.</a:t>
            </a:r>
            <a:endParaRPr lang="en-US"/>
          </a:p>
          <a:p>
            <a:endParaRPr lang="en-US"/>
          </a:p>
          <a:p>
            <a:r>
              <a:rPr lang="en-US"/>
              <a:t>In Python, the most effective tools for smoothing are Pandas, SciPy, and NumPy.</a:t>
            </a:r>
            <a:endParaRPr lang="en-US"/>
          </a:p>
          <a:p>
            <a:endParaRPr lang="en-US"/>
          </a:p>
          <a:p>
            <a:r>
              <a:rPr lang="en-US" b="1"/>
              <a:t>1. Moving Average (Rolling Window)</a:t>
            </a:r>
            <a:r>
              <a:rPr lang="en-US" altLang="en-US" b="1"/>
              <a:t>:</a:t>
            </a:r>
            <a:r>
              <a:rPr lang="en-US" altLang="en-US"/>
              <a:t> </a:t>
            </a:r>
            <a:endParaRPr lang="en-US"/>
          </a:p>
          <a:p>
            <a:r>
              <a:rPr lang="en-US"/>
              <a:t>The most common technique. It calculates the average of a specific number of previous data points (the "window").</a:t>
            </a:r>
            <a:endParaRPr lang="en-US"/>
          </a:p>
          <a:p>
            <a:endParaRPr lang="en-US"/>
          </a:p>
          <a:p>
            <a:r>
              <a:rPr lang="en-US"/>
              <a:t>Simple Moving Average (SMA): All points in the window have equal weight.</a:t>
            </a:r>
            <a:endParaRPr lang="en-US"/>
          </a:p>
          <a:p>
            <a:r>
              <a:rPr lang="en-US"/>
              <a:t>Exponential Moving Average (EMA): Recent points are given more weight, making it more responsive to recent changes.</a:t>
            </a:r>
            <a:endParaRPr lang="en-US"/>
          </a:p>
          <a:p>
            <a:endParaRPr lang="en-US"/>
          </a:p>
          <a:p>
            <a:r>
              <a:rPr lang="en-US"/>
              <a:t>import pandas as pd</a:t>
            </a:r>
            <a:endParaRPr lang="en-US"/>
          </a:p>
          <a:p>
            <a:endParaRPr lang="en-US"/>
          </a:p>
          <a:p>
            <a:r>
              <a:rPr lang="en-US"/>
              <a:t># Simple Moving Average with a 7-day window</a:t>
            </a:r>
            <a:endParaRPr lang="en-US"/>
          </a:p>
          <a:p>
            <a:r>
              <a:rPr lang="en-US"/>
              <a:t>df['SMA_7'] = df['Sales'].rolling(window=7).mean()</a:t>
            </a:r>
            <a:endParaRPr lang="en-US"/>
          </a:p>
          <a:p>
            <a:endParaRPr lang="en-US"/>
          </a:p>
          <a:p>
            <a:r>
              <a:rPr lang="en-US"/>
              <a:t># Exponential Moving Average</a:t>
            </a:r>
            <a:endParaRPr lang="en-US"/>
          </a:p>
          <a:p>
            <a:r>
              <a:rPr lang="en-US"/>
              <a:t>df['EMA_7'] = df['Sales'].ewm(span=7, adjust=False).mean()</a:t>
            </a:r>
            <a:endParaRPr lang="en-US"/>
          </a:p>
        </p:txBody>
      </p:sp>
      <p:pic>
        <p:nvPicPr>
          <p:cNvPr id="2" name="Picture 1"/>
          <p:cNvPicPr>
            <a:picLocks noChangeAspect="1"/>
          </p:cNvPicPr>
          <p:nvPr/>
        </p:nvPicPr>
        <p:blipFill>
          <a:blip r:embed="rId1"/>
          <a:stretch>
            <a:fillRect/>
          </a:stretch>
        </p:blipFill>
        <p:spPr>
          <a:xfrm>
            <a:off x="3976370" y="73025"/>
            <a:ext cx="3719195" cy="51816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64210" y="605155"/>
            <a:ext cx="11109960" cy="6185535"/>
          </a:xfrm>
          <a:prstGeom prst="rect">
            <a:avLst/>
          </a:prstGeom>
          <a:noFill/>
        </p:spPr>
        <p:txBody>
          <a:bodyPr wrap="square" rtlCol="0" anchor="t">
            <a:spAutoFit/>
          </a:bodyPr>
          <a:p>
            <a:r>
              <a:rPr lang="en-US" b="1"/>
              <a:t>2. Savitzky-Golay Filter</a:t>
            </a:r>
            <a:endParaRPr lang="en-US"/>
          </a:p>
          <a:p>
            <a:r>
              <a:rPr lang="en-US"/>
              <a:t>This is a more advanced technique from scipy. It fits a low-degree polynomial to the data points within a window using least squares.</a:t>
            </a:r>
            <a:endParaRPr lang="en-US"/>
          </a:p>
          <a:p>
            <a:r>
              <a:rPr lang="en-US"/>
              <a:t>Advantage: It smoothes the data while preserving the shape and height of peaks better than a simple moving average.</a:t>
            </a:r>
            <a:endParaRPr lang="en-US"/>
          </a:p>
          <a:p>
            <a:endParaRPr lang="en-US"/>
          </a:p>
          <a:p>
            <a:r>
              <a:rPr lang="en-US" altLang="en-US"/>
              <a:t>f</a:t>
            </a:r>
            <a:r>
              <a:rPr lang="en-US"/>
              <a:t>rom scipy.signal import savgol_filter</a:t>
            </a:r>
            <a:endParaRPr lang="en-US"/>
          </a:p>
          <a:p>
            <a:endParaRPr lang="en-US"/>
          </a:p>
          <a:p>
            <a:r>
              <a:rPr lang="en-US"/>
              <a:t># window_length must be odd, polyorder must be less than window_length</a:t>
            </a:r>
            <a:endParaRPr lang="en-US"/>
          </a:p>
          <a:p>
            <a:r>
              <a:rPr lang="en-US"/>
              <a:t>df['Savgol'] = savgol_filter(df['Sales'], window_length=11, polyorder=2)</a:t>
            </a:r>
            <a:endParaRPr lang="en-US"/>
          </a:p>
          <a:p>
            <a:endParaRPr lang="en-US"/>
          </a:p>
          <a:p>
            <a:r>
              <a:rPr lang="en-US" b="1"/>
              <a:t>3. Lowess Smoothing (Locally Weighted Regression)</a:t>
            </a:r>
            <a:endParaRPr lang="en-US"/>
          </a:p>
          <a:p>
            <a:r>
              <a:rPr lang="en-US"/>
              <a:t>LOWESS (Locally Weighted Scatterplot Smoothing) is a non-parametric method that fits multiple regressions in local neighborhoods. It is highly flexible and excellent for non-linear trends.</a:t>
            </a:r>
            <a:endParaRPr lang="en-US"/>
          </a:p>
          <a:p>
            <a:endParaRPr lang="en-US"/>
          </a:p>
          <a:p>
            <a:r>
              <a:rPr lang="en-US"/>
              <a:t>import statsmodels.api as sm</a:t>
            </a:r>
            <a:endParaRPr lang="en-US"/>
          </a:p>
          <a:p>
            <a:endParaRPr lang="en-US"/>
          </a:p>
          <a:p>
            <a:r>
              <a:rPr lang="en-US"/>
              <a:t># lowess returns a 2D array: [sorted_x, smoothed_y]</a:t>
            </a:r>
            <a:endParaRPr lang="en-US"/>
          </a:p>
          <a:p>
            <a:r>
              <a:rPr lang="en-US"/>
              <a:t>lowess = sm.nonparametric.lowess</a:t>
            </a:r>
            <a:endParaRPr lang="en-US"/>
          </a:p>
          <a:p>
            <a:r>
              <a:rPr lang="en-US"/>
              <a:t>smoothed_values = lowess(df['Sales'], df.index, frac=0.1) </a:t>
            </a:r>
            <a:endParaRPr lang="en-US"/>
          </a:p>
          <a:p>
            <a:r>
              <a:rPr lang="en-US"/>
              <a:t>df['Lowess'] = smoothed_values[:, 1]</a:t>
            </a:r>
            <a:endParaRPr lang="en-US"/>
          </a:p>
        </p:txBody>
      </p:sp>
      <p:pic>
        <p:nvPicPr>
          <p:cNvPr id="2" name="Picture 1"/>
          <p:cNvPicPr>
            <a:picLocks noChangeAspect="1"/>
          </p:cNvPicPr>
          <p:nvPr/>
        </p:nvPicPr>
        <p:blipFill>
          <a:blip r:embed="rId1"/>
          <a:stretch>
            <a:fillRect/>
          </a:stretch>
        </p:blipFill>
        <p:spPr>
          <a:xfrm>
            <a:off x="3976370" y="73025"/>
            <a:ext cx="3719195" cy="51816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64210" y="605155"/>
            <a:ext cx="11109960" cy="6185535"/>
          </a:xfrm>
          <a:prstGeom prst="rect">
            <a:avLst/>
          </a:prstGeom>
          <a:noFill/>
        </p:spPr>
        <p:txBody>
          <a:bodyPr wrap="square" rtlCol="0" anchor="t">
            <a:spAutoFit/>
          </a:bodyPr>
          <a:p>
            <a:r>
              <a:rPr lang="en-US" b="1"/>
              <a:t>2. Savitzky-Golay Filter</a:t>
            </a:r>
            <a:endParaRPr lang="en-US"/>
          </a:p>
          <a:p>
            <a:r>
              <a:rPr lang="en-US"/>
              <a:t>This is a more advanced technique from scipy. It fits a low-degree polynomial to the data points within a window using least squares.</a:t>
            </a:r>
            <a:endParaRPr lang="en-US"/>
          </a:p>
          <a:p>
            <a:r>
              <a:rPr lang="en-US"/>
              <a:t>Advantage: It smoothes the data while preserving the shape and height of peaks better than a simple moving average.</a:t>
            </a:r>
            <a:endParaRPr lang="en-US"/>
          </a:p>
          <a:p>
            <a:endParaRPr lang="en-US"/>
          </a:p>
          <a:p>
            <a:r>
              <a:rPr lang="en-US" altLang="en-US"/>
              <a:t>f</a:t>
            </a:r>
            <a:r>
              <a:rPr lang="en-US"/>
              <a:t>rom scipy.signal import savgol_filter</a:t>
            </a:r>
            <a:endParaRPr lang="en-US"/>
          </a:p>
          <a:p>
            <a:endParaRPr lang="en-US"/>
          </a:p>
          <a:p>
            <a:r>
              <a:rPr lang="en-US"/>
              <a:t># window_length must be odd, polyorder must be less than window_length</a:t>
            </a:r>
            <a:endParaRPr lang="en-US"/>
          </a:p>
          <a:p>
            <a:r>
              <a:rPr lang="en-US"/>
              <a:t>df['Savgol'] = savgol_filter(df['Sales'], window_length=11, polyorder=2)</a:t>
            </a:r>
            <a:endParaRPr lang="en-US"/>
          </a:p>
          <a:p>
            <a:endParaRPr lang="en-US"/>
          </a:p>
          <a:p>
            <a:r>
              <a:rPr lang="en-US" b="1"/>
              <a:t>3. Lowess Smoothing (Locally Weighted Regression)</a:t>
            </a:r>
            <a:endParaRPr lang="en-US"/>
          </a:p>
          <a:p>
            <a:r>
              <a:rPr lang="en-US"/>
              <a:t>LOWESS (Locally Weighted Scatterplot Smoothing) is a non-parametric method that fits multiple regressions in local neighborhoods. It is highly flexible and excellent for non-linear trends.</a:t>
            </a:r>
            <a:endParaRPr lang="en-US"/>
          </a:p>
          <a:p>
            <a:endParaRPr lang="en-US"/>
          </a:p>
          <a:p>
            <a:r>
              <a:rPr lang="en-US"/>
              <a:t>import statsmodels.api as sm</a:t>
            </a:r>
            <a:endParaRPr lang="en-US"/>
          </a:p>
          <a:p>
            <a:endParaRPr lang="en-US"/>
          </a:p>
          <a:p>
            <a:r>
              <a:rPr lang="en-US"/>
              <a:t># lowess returns a 2D array: [sorted_x, smoothed_y]</a:t>
            </a:r>
            <a:endParaRPr lang="en-US"/>
          </a:p>
          <a:p>
            <a:r>
              <a:rPr lang="en-US"/>
              <a:t>lowess = sm.nonparametric.lowess</a:t>
            </a:r>
            <a:endParaRPr lang="en-US"/>
          </a:p>
          <a:p>
            <a:r>
              <a:rPr lang="en-US"/>
              <a:t>smoothed_values = lowess(df['Sales'], df.index, frac=0.1) </a:t>
            </a:r>
            <a:endParaRPr lang="en-US"/>
          </a:p>
          <a:p>
            <a:r>
              <a:rPr lang="en-US"/>
              <a:t>df['Lowess'] = smoothed_values[:, 1]</a:t>
            </a:r>
            <a:endParaRPr lang="en-US"/>
          </a:p>
        </p:txBody>
      </p:sp>
      <p:pic>
        <p:nvPicPr>
          <p:cNvPr id="2" name="Picture 1"/>
          <p:cNvPicPr>
            <a:picLocks noChangeAspect="1"/>
          </p:cNvPicPr>
          <p:nvPr/>
        </p:nvPicPr>
        <p:blipFill>
          <a:blip r:embed="rId1"/>
          <a:stretch>
            <a:fillRect/>
          </a:stretch>
        </p:blipFill>
        <p:spPr>
          <a:xfrm>
            <a:off x="3976370" y="73025"/>
            <a:ext cx="3719195" cy="51816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64210" y="605155"/>
            <a:ext cx="11109960" cy="6185535"/>
          </a:xfrm>
          <a:prstGeom prst="rect">
            <a:avLst/>
          </a:prstGeom>
          <a:noFill/>
        </p:spPr>
        <p:txBody>
          <a:bodyPr wrap="square" rtlCol="0" anchor="t">
            <a:spAutoFit/>
          </a:bodyPr>
          <a:p>
            <a:r>
              <a:rPr lang="en-US" b="1"/>
              <a:t>Data generalization </a:t>
            </a:r>
            <a:r>
              <a:rPr lang="en-US"/>
              <a:t>is a technique used in data cleaning and preprocessing to replace specific values with broader, higher-level concepts. This is primarily done to reduce complexity, handle noise, or protect privacy (Data Anonymization).</a:t>
            </a:r>
            <a:endParaRPr lang="en-US"/>
          </a:p>
          <a:p>
            <a:endParaRPr lang="en-US"/>
          </a:p>
          <a:p>
            <a:r>
              <a:rPr lang="en-US"/>
              <a:t>In Python, this is usually achieved through Binning, Mapping, or Clustering.</a:t>
            </a:r>
            <a:endParaRPr lang="en-US"/>
          </a:p>
          <a:p>
            <a:endParaRPr lang="en-US"/>
          </a:p>
          <a:p>
            <a:r>
              <a:rPr lang="en-US" b="1"/>
              <a:t>1. Binning (Discretization)</a:t>
            </a:r>
            <a:endParaRPr lang="en-US"/>
          </a:p>
          <a:p>
            <a:r>
              <a:rPr lang="en-US"/>
              <a:t>This technique converts continuous numerical data into discrete categories or "bins." For example, converting specific ages into age groups.</a:t>
            </a:r>
            <a:endParaRPr lang="en-US"/>
          </a:p>
          <a:p>
            <a:endParaRPr lang="en-US"/>
          </a:p>
          <a:p>
            <a:r>
              <a:rPr lang="en-US"/>
              <a:t>Fixed-width Binning: Dividing data into equal intervals.</a:t>
            </a:r>
            <a:endParaRPr lang="en-US"/>
          </a:p>
          <a:p>
            <a:endParaRPr lang="en-US"/>
          </a:p>
          <a:p>
            <a:r>
              <a:rPr lang="en-US"/>
              <a:t>Quantile Binning: Dividing data so each bin has the same number of observations.</a:t>
            </a:r>
            <a:endParaRPr lang="en-US"/>
          </a:p>
          <a:p>
            <a:endParaRPr lang="en-US"/>
          </a:p>
          <a:p>
            <a:r>
              <a:rPr lang="en-US"/>
              <a:t>import pandas as pd</a:t>
            </a:r>
            <a:endParaRPr lang="en-US"/>
          </a:p>
          <a:p>
            <a:r>
              <a:rPr lang="en-US"/>
              <a:t># Fixed-width binning for ages</a:t>
            </a:r>
            <a:endParaRPr lang="en-US"/>
          </a:p>
          <a:p>
            <a:r>
              <a:rPr lang="en-US"/>
              <a:t>bins = [0, 18, 35, 60, 100]</a:t>
            </a:r>
            <a:endParaRPr lang="en-US"/>
          </a:p>
          <a:p>
            <a:r>
              <a:rPr lang="en-US"/>
              <a:t>labels = ['Minor', 'Young Adult', 'Adult', 'Senior']</a:t>
            </a:r>
            <a:endParaRPr lang="en-US"/>
          </a:p>
          <a:p>
            <a:r>
              <a:rPr lang="en-US"/>
              <a:t>df['Age_Group'] = pd.cut(df['Age'], bins=bins, labels=labels)</a:t>
            </a:r>
            <a:endParaRPr lang="en-US"/>
          </a:p>
          <a:p>
            <a:endParaRPr lang="en-US"/>
          </a:p>
          <a:p>
            <a:r>
              <a:rPr lang="en-US"/>
              <a:t># Quantile binning (4 equal groups)</a:t>
            </a:r>
            <a:endParaRPr lang="en-US"/>
          </a:p>
          <a:p>
            <a:r>
              <a:rPr lang="en-US"/>
              <a:t>df['Income_Level'] = pd.qcut(df['Salary'], q=4, labels=['Low', 'Medium', 'High', 'Elite'])</a:t>
            </a:r>
            <a:endParaRPr lang="en-US"/>
          </a:p>
        </p:txBody>
      </p:sp>
      <p:pic>
        <p:nvPicPr>
          <p:cNvPr id="2" name="Picture 1"/>
          <p:cNvPicPr>
            <a:picLocks noChangeAspect="1"/>
          </p:cNvPicPr>
          <p:nvPr/>
        </p:nvPicPr>
        <p:blipFill>
          <a:blip r:embed="rId1"/>
          <a:stretch>
            <a:fillRect/>
          </a:stretch>
        </p:blipFill>
        <p:spPr>
          <a:xfrm>
            <a:off x="3976370" y="73025"/>
            <a:ext cx="3719195" cy="51816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64210" y="605155"/>
            <a:ext cx="11109960" cy="5631180"/>
          </a:xfrm>
          <a:prstGeom prst="rect">
            <a:avLst/>
          </a:prstGeom>
          <a:noFill/>
        </p:spPr>
        <p:txBody>
          <a:bodyPr wrap="square" rtlCol="0" anchor="t">
            <a:spAutoFit/>
          </a:bodyPr>
          <a:p>
            <a:r>
              <a:rPr lang="en-US" b="1"/>
              <a:t>2. Conceptual Hierarchy Mapping</a:t>
            </a:r>
            <a:endParaRPr lang="en-US"/>
          </a:p>
          <a:p>
            <a:r>
              <a:rPr lang="en-US"/>
              <a:t>This involves replacing specific categorical values with a more general parent category. This is often done using a dictionary map.</a:t>
            </a:r>
            <a:endParaRPr lang="en-US"/>
          </a:p>
          <a:p>
            <a:endParaRPr lang="en-US"/>
          </a:p>
          <a:p>
            <a:r>
              <a:rPr lang="en-US"/>
              <a:t>Example: Geography Generalization</a:t>
            </a:r>
            <a:endParaRPr lang="en-US"/>
          </a:p>
          <a:p>
            <a:r>
              <a:rPr lang="en-US"/>
              <a:t>Instead of analyzing 50 different cities, you generalize them by state or region to see broader patterns.</a:t>
            </a:r>
            <a:endParaRPr lang="en-US"/>
          </a:p>
          <a:p>
            <a:endParaRPr lang="en-US"/>
          </a:p>
          <a:p>
            <a:r>
              <a:rPr lang="en-US"/>
              <a:t>Python</a:t>
            </a:r>
            <a:endParaRPr lang="en-US"/>
          </a:p>
          <a:p>
            <a:endParaRPr lang="en-US"/>
          </a:p>
          <a:p>
            <a:r>
              <a:rPr lang="en-US"/>
              <a:t># Dictionary for mapping</a:t>
            </a:r>
            <a:endParaRPr lang="en-US"/>
          </a:p>
          <a:p>
            <a:r>
              <a:rPr lang="en-US"/>
              <a:t>region_map = {</a:t>
            </a:r>
            <a:endParaRPr lang="en-US"/>
          </a:p>
          <a:p>
            <a:r>
              <a:rPr lang="en-US"/>
              <a:t>    'San Francisco': 'West Coast',</a:t>
            </a:r>
            <a:endParaRPr lang="en-US"/>
          </a:p>
          <a:p>
            <a:r>
              <a:rPr lang="en-US"/>
              <a:t>    'Los Angeles': 'West Coast',</a:t>
            </a:r>
            <a:endParaRPr lang="en-US"/>
          </a:p>
          <a:p>
            <a:r>
              <a:rPr lang="en-US"/>
              <a:t>    'New York': 'East Coast',</a:t>
            </a:r>
            <a:endParaRPr lang="en-US"/>
          </a:p>
          <a:p>
            <a:r>
              <a:rPr lang="en-US"/>
              <a:t>    'Boston': 'East Coast',</a:t>
            </a:r>
            <a:endParaRPr lang="en-US"/>
          </a:p>
          <a:p>
            <a:r>
              <a:rPr lang="en-US"/>
              <a:t>    'Chicago': 'Midwest'</a:t>
            </a:r>
            <a:endParaRPr lang="en-US"/>
          </a:p>
          <a:p>
            <a:r>
              <a:rPr lang="en-US"/>
              <a:t>}</a:t>
            </a:r>
            <a:endParaRPr lang="en-US"/>
          </a:p>
          <a:p>
            <a:endParaRPr lang="en-US"/>
          </a:p>
          <a:p>
            <a:r>
              <a:rPr lang="en-US"/>
              <a:t>df['Region'] = df['City'].map(region_map)</a:t>
            </a:r>
            <a:endParaRPr lang="en-US"/>
          </a:p>
        </p:txBody>
      </p:sp>
      <p:pic>
        <p:nvPicPr>
          <p:cNvPr id="2" name="Picture 1"/>
          <p:cNvPicPr>
            <a:picLocks noChangeAspect="1"/>
          </p:cNvPicPr>
          <p:nvPr/>
        </p:nvPicPr>
        <p:blipFill>
          <a:blip r:embed="rId1"/>
          <a:stretch>
            <a:fillRect/>
          </a:stretch>
        </p:blipFill>
        <p:spPr>
          <a:xfrm>
            <a:off x="3976370" y="73025"/>
            <a:ext cx="3719195" cy="51816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64210" y="659130"/>
            <a:ext cx="11109960" cy="5354320"/>
          </a:xfrm>
          <a:prstGeom prst="rect">
            <a:avLst/>
          </a:prstGeom>
          <a:noFill/>
        </p:spPr>
        <p:txBody>
          <a:bodyPr wrap="square" rtlCol="0" anchor="t">
            <a:spAutoFit/>
          </a:bodyPr>
          <a:p>
            <a:r>
              <a:rPr lang="en-US" b="1">
                <a:sym typeface="+mn-ea"/>
              </a:rPr>
              <a:t>3. Clustering-based Generalization</a:t>
            </a:r>
            <a:endParaRPr lang="en-US"/>
          </a:p>
          <a:p>
            <a:r>
              <a:rPr lang="en-US">
                <a:sym typeface="+mn-ea"/>
              </a:rPr>
              <a:t>When you don't have a clear hierarchy, you can use unsupervised learning (like K-Means) to group similar data points together and replace them with their "Cluster ID."</a:t>
            </a:r>
            <a:endParaRPr lang="en-US"/>
          </a:p>
          <a:p>
            <a:endParaRPr lang="en-US"/>
          </a:p>
          <a:p>
            <a:r>
              <a:rPr lang="en-US">
                <a:sym typeface="+mn-ea"/>
              </a:rPr>
              <a:t>from sklearn.cluster import KMeans</a:t>
            </a:r>
            <a:endParaRPr lang="en-US"/>
          </a:p>
          <a:p>
            <a:endParaRPr lang="en-US"/>
          </a:p>
          <a:p>
            <a:r>
              <a:rPr lang="en-US">
                <a:sym typeface="+mn-ea"/>
              </a:rPr>
              <a:t># Generalizing latitude and longitude into 5 geographic zones</a:t>
            </a:r>
            <a:endParaRPr lang="en-US"/>
          </a:p>
          <a:p>
            <a:r>
              <a:rPr lang="en-US">
                <a:sym typeface="+mn-ea"/>
              </a:rPr>
              <a:t>coords = df[['latitude', 'longitude']]</a:t>
            </a:r>
            <a:endParaRPr lang="en-US"/>
          </a:p>
          <a:p>
            <a:r>
              <a:rPr lang="en-US">
                <a:sym typeface="+mn-ea"/>
              </a:rPr>
              <a:t>kmeans = KMeans(n_clusters=5)</a:t>
            </a:r>
            <a:endParaRPr lang="en-US"/>
          </a:p>
          <a:p>
            <a:r>
              <a:rPr lang="en-US">
                <a:sym typeface="+mn-ea"/>
              </a:rPr>
              <a:t>df['Zone_ID'] = kmeans.fit_transform(coords)</a:t>
            </a:r>
            <a:endParaRPr lang="en-US">
              <a:sym typeface="+mn-ea"/>
            </a:endParaRPr>
          </a:p>
          <a:p>
            <a:endParaRPr lang="en-US"/>
          </a:p>
          <a:p>
            <a:r>
              <a:rPr lang="en-US" b="1"/>
              <a:t>4. Mathematical Aggregation</a:t>
            </a:r>
            <a:endParaRPr lang="en-US"/>
          </a:p>
          <a:p>
            <a:r>
              <a:rPr lang="en-US"/>
              <a:t>You can generalize data by rounding or reducing precision. This is common when specific timestamps or decimals add noise without adding value. </a:t>
            </a:r>
            <a:endParaRPr lang="en-US"/>
          </a:p>
          <a:p>
            <a:pPr marL="285750" indent="-285750">
              <a:buFont typeface="Arial" panose="02080604020202020204" pitchFamily="34" charset="0"/>
              <a:buChar char="•"/>
            </a:pPr>
            <a:r>
              <a:rPr lang="en-US"/>
              <a:t>Rounding: df['Price'].round(-1) (Generalizes $42 </a:t>
            </a:r>
            <a:r>
              <a:rPr lang="en-US" altLang="en-US"/>
              <a:t>-&gt;</a:t>
            </a:r>
            <a:r>
              <a:rPr lang="en-US"/>
              <a:t> 40$, $47 </a:t>
            </a:r>
            <a:r>
              <a:rPr lang="en-US" altLang="en-US"/>
              <a:t>-&gt;</a:t>
            </a:r>
            <a:r>
              <a:rPr lang="en-US"/>
              <a:t> 50$).</a:t>
            </a:r>
            <a:endParaRPr lang="en-US"/>
          </a:p>
          <a:p>
            <a:pPr marL="285750" indent="-285750">
              <a:buFont typeface="Arial" panose="02080604020202020204" pitchFamily="34" charset="0"/>
              <a:buChar char="•"/>
            </a:pPr>
            <a:r>
              <a:rPr lang="en-US"/>
              <a:t>Resampling: Generalizing seconds/minutes data into hourly or daily averages.</a:t>
            </a:r>
            <a:endParaRPr lang="en-US"/>
          </a:p>
          <a:p>
            <a:pPr indent="0">
              <a:buFont typeface="Arial" panose="02080604020202020204" pitchFamily="34" charset="0"/>
              <a:buNone/>
            </a:pPr>
            <a:endParaRPr lang="en-US"/>
          </a:p>
          <a:p>
            <a:pPr indent="0">
              <a:buFont typeface="Arial" panose="02080604020202020204" pitchFamily="34" charset="0"/>
              <a:buNone/>
            </a:pPr>
            <a:r>
              <a:rPr lang="en-US"/>
              <a:t># Generalize time-series data to daily averages</a:t>
            </a:r>
            <a:endParaRPr lang="en-US"/>
          </a:p>
          <a:p>
            <a:r>
              <a:rPr lang="en-US"/>
              <a:t>df_daily = df.resample('D', on='Timestamp').mean()</a:t>
            </a:r>
            <a:endParaRPr lang="en-US"/>
          </a:p>
        </p:txBody>
      </p:sp>
      <p:pic>
        <p:nvPicPr>
          <p:cNvPr id="2" name="Picture 1"/>
          <p:cNvPicPr>
            <a:picLocks noChangeAspect="1"/>
          </p:cNvPicPr>
          <p:nvPr/>
        </p:nvPicPr>
        <p:blipFill>
          <a:blip r:embed="rId1"/>
          <a:stretch>
            <a:fillRect/>
          </a:stretch>
        </p:blipFill>
        <p:spPr>
          <a:xfrm>
            <a:off x="3976370" y="73025"/>
            <a:ext cx="3719195" cy="51816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64210" y="659130"/>
            <a:ext cx="11109960" cy="5908040"/>
          </a:xfrm>
          <a:prstGeom prst="rect">
            <a:avLst/>
          </a:prstGeom>
          <a:noFill/>
        </p:spPr>
        <p:txBody>
          <a:bodyPr wrap="square" rtlCol="0" anchor="t">
            <a:spAutoFit/>
          </a:bodyPr>
          <a:p>
            <a:r>
              <a:rPr lang="en-US" b="1">
                <a:sym typeface="+mn-ea"/>
              </a:rPr>
              <a:t>Data normalization </a:t>
            </a:r>
            <a:r>
              <a:rPr lang="en-US">
                <a:sym typeface="+mn-ea"/>
              </a:rPr>
              <a:t>is the process of rescaling numerical features so they share a common scale, typically between 0 and 1 or -1 and 1. This is crucial for machine learning algorithms that rely on distance calculations (like KNN, SVM, or K-Means) or gradient descent, as it prevents features with large magnitudes from dominating the model.</a:t>
            </a:r>
            <a:endParaRPr lang="en-US">
              <a:sym typeface="+mn-ea"/>
            </a:endParaRPr>
          </a:p>
          <a:p>
            <a:endParaRPr lang="en-US">
              <a:sym typeface="+mn-ea"/>
            </a:endParaRPr>
          </a:p>
          <a:p>
            <a:r>
              <a:rPr lang="en-US">
                <a:sym typeface="+mn-ea"/>
              </a:rPr>
              <a:t>In Python, the Scikit-Learn library is the primary tool for these operations.</a:t>
            </a:r>
            <a:endParaRPr lang="en-US">
              <a:sym typeface="+mn-ea"/>
            </a:endParaRPr>
          </a:p>
          <a:p>
            <a:endParaRPr lang="en-US">
              <a:sym typeface="+mn-ea"/>
            </a:endParaRPr>
          </a:p>
          <a:p>
            <a:r>
              <a:rPr lang="en-US" b="1">
                <a:sym typeface="+mn-ea"/>
              </a:rPr>
              <a:t>1. Min-Max Scaling (Normalization)</a:t>
            </a:r>
            <a:endParaRPr lang="en-US">
              <a:sym typeface="+mn-ea"/>
            </a:endParaRPr>
          </a:p>
          <a:p>
            <a:r>
              <a:rPr lang="en-US">
                <a:sym typeface="+mn-ea"/>
              </a:rPr>
              <a:t>This technique rescales the data to a fixed range, usually $[0, 1]$. It is very sensitive to outliers because one extreme value can "squish" all other data points into a tiny range.</a:t>
            </a:r>
            <a:endParaRPr lang="en-US">
              <a:sym typeface="+mn-ea"/>
            </a:endParaRPr>
          </a:p>
          <a:p>
            <a:endParaRPr lang="en-US">
              <a:sym typeface="+mn-ea"/>
            </a:endParaRPr>
          </a:p>
          <a:p>
            <a:endParaRPr lang="en-US">
              <a:sym typeface="+mn-ea"/>
            </a:endParaRPr>
          </a:p>
          <a:p>
            <a:endParaRPr lang="en-US">
              <a:sym typeface="+mn-ea"/>
            </a:endParaRPr>
          </a:p>
          <a:p>
            <a:endParaRPr lang="en-US">
              <a:sym typeface="+mn-ea"/>
            </a:endParaRPr>
          </a:p>
          <a:p>
            <a:r>
              <a:rPr lang="en-US">
                <a:sym typeface="+mn-ea"/>
              </a:rPr>
              <a:t>from sklearn.preprocessing </a:t>
            </a:r>
            <a:endParaRPr lang="en-US">
              <a:sym typeface="+mn-ea"/>
            </a:endParaRPr>
          </a:p>
          <a:p>
            <a:r>
              <a:rPr lang="en-US">
                <a:sym typeface="+mn-ea"/>
              </a:rPr>
              <a:t>import MinMaxScaler</a:t>
            </a:r>
            <a:endParaRPr lang="en-US">
              <a:sym typeface="+mn-ea"/>
            </a:endParaRPr>
          </a:p>
          <a:p>
            <a:r>
              <a:rPr lang="en-US">
                <a:sym typeface="+mn-ea"/>
              </a:rPr>
              <a:t>import pandas as pd</a:t>
            </a:r>
            <a:endParaRPr lang="en-US">
              <a:sym typeface="+mn-ea"/>
            </a:endParaRPr>
          </a:p>
          <a:p>
            <a:endParaRPr lang="en-US">
              <a:sym typeface="+mn-ea"/>
            </a:endParaRPr>
          </a:p>
          <a:p>
            <a:r>
              <a:rPr lang="en-US">
                <a:sym typeface="+mn-ea"/>
              </a:rPr>
              <a:t>data = [[-1, 2], [-0.5, 6], [0, 10], [1, 18]]</a:t>
            </a:r>
            <a:endParaRPr lang="en-US">
              <a:sym typeface="+mn-ea"/>
            </a:endParaRPr>
          </a:p>
          <a:p>
            <a:r>
              <a:rPr lang="en-US">
                <a:sym typeface="+mn-ea"/>
              </a:rPr>
              <a:t>scaler = MinMaxScaler()</a:t>
            </a:r>
            <a:endParaRPr lang="en-US">
              <a:sym typeface="+mn-ea"/>
            </a:endParaRPr>
          </a:p>
          <a:p>
            <a:r>
              <a:rPr lang="en-US">
                <a:sym typeface="+mn-ea"/>
              </a:rPr>
              <a:t>normalized_data = scaler.fit_transform(data)</a:t>
            </a:r>
            <a:endParaRPr lang="en-US">
              <a:sym typeface="+mn-ea"/>
            </a:endParaRPr>
          </a:p>
        </p:txBody>
      </p:sp>
      <p:pic>
        <p:nvPicPr>
          <p:cNvPr id="2" name="Picture 1"/>
          <p:cNvPicPr>
            <a:picLocks noChangeAspect="1"/>
          </p:cNvPicPr>
          <p:nvPr/>
        </p:nvPicPr>
        <p:blipFill>
          <a:blip r:embed="rId1"/>
          <a:stretch>
            <a:fillRect/>
          </a:stretch>
        </p:blipFill>
        <p:spPr>
          <a:xfrm>
            <a:off x="3976370" y="73025"/>
            <a:ext cx="3719195" cy="518160"/>
          </a:xfrm>
          <a:prstGeom prst="rect">
            <a:avLst/>
          </a:prstGeom>
        </p:spPr>
      </p:pic>
      <p:pic>
        <p:nvPicPr>
          <p:cNvPr id="3" name="Picture 2"/>
          <p:cNvPicPr>
            <a:picLocks noChangeAspect="1"/>
          </p:cNvPicPr>
          <p:nvPr/>
        </p:nvPicPr>
        <p:blipFill>
          <a:blip r:embed="rId2"/>
          <a:stretch>
            <a:fillRect/>
          </a:stretch>
        </p:blipFill>
        <p:spPr>
          <a:xfrm>
            <a:off x="4450715" y="3590290"/>
            <a:ext cx="2446020" cy="71628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3976370" y="73025"/>
            <a:ext cx="3719195" cy="518160"/>
          </a:xfrm>
          <a:prstGeom prst="rect">
            <a:avLst/>
          </a:prstGeom>
        </p:spPr>
      </p:pic>
      <p:sp>
        <p:nvSpPr>
          <p:cNvPr id="5" name="Text Box 4"/>
          <p:cNvSpPr txBox="1"/>
          <p:nvPr/>
        </p:nvSpPr>
        <p:spPr>
          <a:xfrm>
            <a:off x="701040" y="867410"/>
            <a:ext cx="11309985" cy="5631180"/>
          </a:xfrm>
          <a:prstGeom prst="rect">
            <a:avLst/>
          </a:prstGeom>
          <a:noFill/>
        </p:spPr>
        <p:txBody>
          <a:bodyPr wrap="square" rtlCol="0" anchor="t">
            <a:spAutoFit/>
          </a:bodyPr>
          <a:p>
            <a:r>
              <a:rPr lang="en-US" b="1"/>
              <a:t>2. Standard Scaling (Z-score Standardization)</a:t>
            </a:r>
            <a:endParaRPr lang="en-US"/>
          </a:p>
          <a:p>
            <a:r>
              <a:rPr lang="en-US"/>
              <a:t>This technique centers the data around a mean of 0 with a standard deviation of 1. It does not have a fixed bounding range, making it more robust to outliers than Min-Max scaling.</a:t>
            </a:r>
            <a:endParaRPr lang="en-US"/>
          </a:p>
          <a:p>
            <a:endParaRPr lang="en-US"/>
          </a:p>
          <a:p>
            <a:endParaRPr lang="en-US"/>
          </a:p>
          <a:p>
            <a:endParaRPr lang="en-US"/>
          </a:p>
          <a:p>
            <a:r>
              <a:rPr lang="en-US"/>
              <a:t>from sklearn.preprocessing import StandardScaler</a:t>
            </a:r>
            <a:endParaRPr lang="en-US"/>
          </a:p>
          <a:p>
            <a:endParaRPr lang="en-US"/>
          </a:p>
          <a:p>
            <a:r>
              <a:rPr lang="en-US"/>
              <a:t>scaler = StandardScaler()</a:t>
            </a:r>
            <a:endParaRPr lang="en-US"/>
          </a:p>
          <a:p>
            <a:r>
              <a:rPr lang="en-US"/>
              <a:t>standardized_data = scaler.fit_transform(data)</a:t>
            </a:r>
            <a:endParaRPr lang="en-US"/>
          </a:p>
          <a:p>
            <a:endParaRPr lang="en-US"/>
          </a:p>
          <a:p>
            <a:r>
              <a:rPr lang="en-US" b="1"/>
              <a:t>3. Robust Scaling</a:t>
            </a:r>
            <a:endParaRPr lang="en-US"/>
          </a:p>
          <a:p>
            <a:r>
              <a:rPr lang="en-US"/>
              <a:t>If your dataset has significant outliers, the mean and variance used in Standard Scaling will be distorted. RobustScaler uses the Median and the Interquartile Range (IQR) instead, making it much more reliable for "messy" data.</a:t>
            </a:r>
            <a:endParaRPr lang="en-US"/>
          </a:p>
          <a:p>
            <a:endParaRPr lang="en-US"/>
          </a:p>
          <a:p>
            <a:r>
              <a:rPr lang="en-US"/>
              <a:t>from sklearn.preprocessing import RobustScaler</a:t>
            </a:r>
            <a:endParaRPr lang="en-US"/>
          </a:p>
          <a:p>
            <a:endParaRPr lang="en-US"/>
          </a:p>
          <a:p>
            <a:r>
              <a:rPr lang="en-US"/>
              <a:t>scaler = RobustScaler()</a:t>
            </a:r>
            <a:endParaRPr lang="en-US"/>
          </a:p>
          <a:p>
            <a:r>
              <a:rPr lang="en-US"/>
              <a:t>robust_data = scaler.fit_transform(data)</a:t>
            </a:r>
            <a:endParaRPr lang="en-US"/>
          </a:p>
        </p:txBody>
      </p:sp>
      <p:pic>
        <p:nvPicPr>
          <p:cNvPr id="6" name="Picture 5"/>
          <p:cNvPicPr>
            <a:picLocks noChangeAspect="1"/>
          </p:cNvPicPr>
          <p:nvPr/>
        </p:nvPicPr>
        <p:blipFill>
          <a:blip r:embed="rId2"/>
          <a:stretch>
            <a:fillRect/>
          </a:stretch>
        </p:blipFill>
        <p:spPr>
          <a:xfrm>
            <a:off x="5057140" y="1771650"/>
            <a:ext cx="2446020" cy="71628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3976370" y="73025"/>
            <a:ext cx="3719195" cy="518160"/>
          </a:xfrm>
          <a:prstGeom prst="rect">
            <a:avLst/>
          </a:prstGeom>
        </p:spPr>
      </p:pic>
      <p:sp>
        <p:nvSpPr>
          <p:cNvPr id="5" name="Text Box 4"/>
          <p:cNvSpPr txBox="1"/>
          <p:nvPr/>
        </p:nvSpPr>
        <p:spPr>
          <a:xfrm>
            <a:off x="701040" y="867410"/>
            <a:ext cx="11309985" cy="2584450"/>
          </a:xfrm>
          <a:prstGeom prst="rect">
            <a:avLst/>
          </a:prstGeom>
          <a:noFill/>
        </p:spPr>
        <p:txBody>
          <a:bodyPr wrap="square" rtlCol="0" anchor="t">
            <a:spAutoFit/>
          </a:bodyPr>
          <a:p>
            <a:r>
              <a:rPr lang="en-US" b="1"/>
              <a:t>4. MaxAbsScaler</a:t>
            </a:r>
            <a:endParaRPr lang="en-US"/>
          </a:p>
          <a:p>
            <a:r>
              <a:rPr lang="en-US"/>
              <a:t>This scales each feature by its maximum absolute value, ensuring the data is mapped within the range $[-1, 1]$. It is particularly useful for data that is already centered at zero or for sparse data (data with many zeros), as it does not destroy the sparsity.</a:t>
            </a:r>
            <a:endParaRPr lang="en-US"/>
          </a:p>
          <a:p>
            <a:endParaRPr lang="en-US"/>
          </a:p>
          <a:p>
            <a:r>
              <a:rPr lang="en-US"/>
              <a:t>from sklearn.preprocessing import MaxAbsScaler</a:t>
            </a:r>
            <a:endParaRPr lang="en-US"/>
          </a:p>
          <a:p>
            <a:endParaRPr lang="en-US"/>
          </a:p>
          <a:p>
            <a:r>
              <a:rPr lang="en-US"/>
              <a:t>scaler = MaxAbsScaler()</a:t>
            </a:r>
            <a:endParaRPr lang="en-US"/>
          </a:p>
          <a:p>
            <a:r>
              <a:rPr lang="en-US"/>
              <a:t>maxabs_data = scaler.fit_transform(data)</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from 2026-05-13 15-19-39"/>
          <p:cNvPicPr>
            <a:picLocks noChangeAspect="1"/>
          </p:cNvPicPr>
          <p:nvPr/>
        </p:nvPicPr>
        <p:blipFill>
          <a:blip r:embed="rId1"/>
          <a:stretch>
            <a:fillRect/>
          </a:stretch>
        </p:blipFill>
        <p:spPr>
          <a:xfrm>
            <a:off x="76200" y="-8255"/>
            <a:ext cx="11746230" cy="670687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13400</Words>
  <Application>WPS Presentation</Application>
  <PresentationFormat>Widescreen</PresentationFormat>
  <Paragraphs>329</Paragraphs>
  <Slides>36</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36</vt:i4>
      </vt:variant>
    </vt:vector>
  </HeadingPairs>
  <TitlesOfParts>
    <vt:vector size="47" baseType="lpstr">
      <vt:lpstr>Arial</vt:lpstr>
      <vt:lpstr>SimSun</vt:lpstr>
      <vt:lpstr>Wingdings</vt:lpstr>
      <vt:lpstr>微软雅黑</vt:lpstr>
      <vt:lpstr>Droid Sans Fallback</vt:lpstr>
      <vt:lpstr>DejaVu Sans</vt:lpstr>
      <vt:lpstr>Arial Unicode MS</vt:lpstr>
      <vt:lpstr>Calibri Light</vt:lpstr>
      <vt:lpstr>Calibri</vt:lpstr>
      <vt:lpstr>Standard Symbols PS</vt:lpstr>
      <vt:lpstr>Office Theme</vt:lpstr>
      <vt:lpstr>PowerPoint 演示文稿</vt:lpstr>
      <vt:lpstr>PowerPoint 演示文稿</vt:lpstr>
      <vt:lpstr>PowerPoint 演示文稿</vt:lpstr>
      <vt:lpstr>PowerPoint 演示文稿</vt:lpstr>
      <vt:lpstr>PowerPoint 演示文稿</vt:lpstr>
      <vt:lpstr>DATA IMPORTING</vt:lpstr>
      <vt:lpstr>PowerPoint 演示文稿</vt:lpstr>
      <vt:lpstr>Importing Data From Scikit-learn</vt:lpstr>
      <vt:lpstr>Importing Data From Scikit-learn (Contd.)</vt:lpstr>
      <vt:lpstr>Importing Data From Scikit-learn (Contd.)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WPP Presentation</dc:title>
  <dc:creator>dean</dc:creator>
  <cp:lastModifiedBy>dean</cp:lastModifiedBy>
  <cp:revision>53</cp:revision>
  <dcterms:created xsi:type="dcterms:W3CDTF">2026-05-14T16:56:21Z</dcterms:created>
  <dcterms:modified xsi:type="dcterms:W3CDTF">2026-05-14T16:56:21Z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1033-10.1.0.6757</vt:lpwstr>
  </property>
</Properties>
</file>