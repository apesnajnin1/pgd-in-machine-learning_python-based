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E4A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rgbClr val="0168B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E4A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rgbClr val="0168B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E4A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rgbClr val="0168B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E4A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rgbClr val="0168B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rgbClr val="0168B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71160" y="2661038"/>
            <a:ext cx="352775" cy="34277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5760085" cy="204470"/>
          </a:xfrm>
          <a:custGeom>
            <a:avLst/>
            <a:gdLst/>
            <a:ahLst/>
            <a:cxnLst/>
            <a:rect l="l" t="t" r="r" b="b"/>
            <a:pathLst>
              <a:path w="5760085" h="204470">
                <a:moveTo>
                  <a:pt x="5759996" y="0"/>
                </a:moveTo>
                <a:lnTo>
                  <a:pt x="0" y="0"/>
                </a:lnTo>
                <a:lnTo>
                  <a:pt x="0" y="203974"/>
                </a:lnTo>
                <a:lnTo>
                  <a:pt x="5759996" y="203974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0650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F2E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710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F2E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214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F2E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718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F2E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222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F2E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E4A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79010" y="3130124"/>
            <a:ext cx="986154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rgbClr val="0168B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slide" Target="slide25.xml"/><Relationship Id="rId5" Type="http://schemas.openxmlformats.org/officeDocument/2006/relationships/slide" Target="slide22.xml"/><Relationship Id="rId4" Type="http://schemas.openxmlformats.org/officeDocument/2006/relationships/slide" Target="slide14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slide" Target="slide1.xml"/><Relationship Id="rId7" Type="http://schemas.openxmlformats.org/officeDocument/2006/relationships/image" Target="../media/image3.png"/><Relationship Id="rId6" Type="http://schemas.openxmlformats.org/officeDocument/2006/relationships/slide" Target="slide25.xml"/><Relationship Id="rId5" Type="http://schemas.openxmlformats.org/officeDocument/2006/relationships/slide" Target="slide22.xml"/><Relationship Id="rId4" Type="http://schemas.openxmlformats.org/officeDocument/2006/relationships/slide" Target="slide14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slide" Target="slide1.xml"/><Relationship Id="rId7" Type="http://schemas.openxmlformats.org/officeDocument/2006/relationships/image" Target="../media/image4.png"/><Relationship Id="rId6" Type="http://schemas.openxmlformats.org/officeDocument/2006/relationships/slide" Target="slide25.xml"/><Relationship Id="rId5" Type="http://schemas.openxmlformats.org/officeDocument/2006/relationships/slide" Target="slide22.xml"/><Relationship Id="rId4" Type="http://schemas.openxmlformats.org/officeDocument/2006/relationships/slide" Target="slide14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slide" Target="slide1.xml"/><Relationship Id="rId7" Type="http://schemas.openxmlformats.org/officeDocument/2006/relationships/image" Target="../media/image4.png"/><Relationship Id="rId6" Type="http://schemas.openxmlformats.org/officeDocument/2006/relationships/slide" Target="slide25.xml"/><Relationship Id="rId5" Type="http://schemas.openxmlformats.org/officeDocument/2006/relationships/slide" Target="slide22.xml"/><Relationship Id="rId4" Type="http://schemas.openxmlformats.org/officeDocument/2006/relationships/slide" Target="slide14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25.xml"/><Relationship Id="rId5" Type="http://schemas.openxmlformats.org/officeDocument/2006/relationships/slide" Target="slide22.xml"/><Relationship Id="rId4" Type="http://schemas.openxmlformats.org/officeDocument/2006/relationships/slide" Target="slide14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slide" Target="slide1.xml"/><Relationship Id="rId6" Type="http://schemas.openxmlformats.org/officeDocument/2006/relationships/image" Target="../media/image4.pn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4.png"/><Relationship Id="rId6" Type="http://schemas.openxmlformats.org/officeDocument/2006/relationships/image" Target="../media/image5.jpe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8.jpeg"/><Relationship Id="rId6" Type="http://schemas.openxmlformats.org/officeDocument/2006/relationships/image" Target="../media/image4.pn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slide" Target="slide1.xml"/><Relationship Id="rId6" Type="http://schemas.openxmlformats.org/officeDocument/2006/relationships/image" Target="../media/image9.jpe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slide" Target="slide1.xml"/><Relationship Id="rId6" Type="http://schemas.openxmlformats.org/officeDocument/2006/relationships/image" Target="../media/image4.pn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slide" Target="slide1.xml"/><Relationship Id="rId6" Type="http://schemas.openxmlformats.org/officeDocument/2006/relationships/image" Target="../media/image10.jpe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slide" Target="slide1.xml"/><Relationship Id="rId6" Type="http://schemas.openxmlformats.org/officeDocument/2006/relationships/image" Target="../media/image4.png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25.xml"/><Relationship Id="rId4" Type="http://schemas.openxmlformats.org/officeDocument/2006/relationships/slide" Target="slide22.xml"/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"/>
            <a:ext cx="5759996" cy="32399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9994" y="1508988"/>
            <a:ext cx="5039995" cy="565150"/>
          </a:xfrm>
          <a:prstGeom prst="rect">
            <a:avLst/>
          </a:prstGeom>
          <a:solidFill>
            <a:srgbClr val="C1E5B1"/>
          </a:solidFill>
        </p:spPr>
        <p:txBody>
          <a:bodyPr vert="horz" wrap="square" lIns="0" tIns="495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sz="1400" b="1" dirty="0">
                <a:solidFill>
                  <a:srgbClr val="0168B4"/>
                </a:solidFill>
                <a:latin typeface="Arial"/>
                <a:cs typeface="Arial"/>
              </a:rPr>
              <a:t>Machine</a:t>
            </a:r>
            <a:r>
              <a:rPr sz="1400" b="1" spc="10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400" b="1" spc="-10" dirty="0">
                <a:solidFill>
                  <a:srgbClr val="DCB413"/>
                </a:solidFill>
                <a:latin typeface="Arial"/>
                <a:cs typeface="Arial"/>
              </a:rPr>
              <a:t>Introduction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6" name="object 26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95300" y="280299"/>
            <a:ext cx="5334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solidFill>
                  <a:srgbClr val="0168B4"/>
                </a:solidFill>
                <a:latin typeface="Arial"/>
                <a:cs typeface="Arial"/>
              </a:rPr>
              <a:t>Outline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0639" y="967168"/>
            <a:ext cx="130810" cy="130810"/>
          </a:xfrm>
          <a:custGeom>
            <a:avLst/>
            <a:gdLst/>
            <a:ahLst/>
            <a:cxnLst/>
            <a:rect l="l" t="t" r="r" b="b"/>
            <a:pathLst>
              <a:path w="130809" h="130809">
                <a:moveTo>
                  <a:pt x="130479" y="0"/>
                </a:moveTo>
                <a:lnTo>
                  <a:pt x="0" y="0"/>
                </a:lnTo>
                <a:lnTo>
                  <a:pt x="0" y="130479"/>
                </a:lnTo>
                <a:lnTo>
                  <a:pt x="130479" y="130479"/>
                </a:lnTo>
                <a:lnTo>
                  <a:pt x="130479" y="0"/>
                </a:lnTo>
                <a:close/>
              </a:path>
            </a:pathLst>
          </a:custGeom>
          <a:solidFill>
            <a:srgbClr val="DC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0639" y="1335773"/>
            <a:ext cx="130810" cy="130810"/>
          </a:xfrm>
          <a:custGeom>
            <a:avLst/>
            <a:gdLst/>
            <a:ahLst/>
            <a:cxnLst/>
            <a:rect l="l" t="t" r="r" b="b"/>
            <a:pathLst>
              <a:path w="130809" h="130809">
                <a:moveTo>
                  <a:pt x="130479" y="0"/>
                </a:moveTo>
                <a:lnTo>
                  <a:pt x="0" y="0"/>
                </a:lnTo>
                <a:lnTo>
                  <a:pt x="0" y="130479"/>
                </a:lnTo>
                <a:lnTo>
                  <a:pt x="130479" y="130479"/>
                </a:lnTo>
                <a:lnTo>
                  <a:pt x="130479" y="0"/>
                </a:lnTo>
                <a:close/>
              </a:path>
            </a:pathLst>
          </a:custGeom>
          <a:solidFill>
            <a:srgbClr val="DC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0639" y="1704365"/>
            <a:ext cx="130810" cy="130810"/>
          </a:xfrm>
          <a:custGeom>
            <a:avLst/>
            <a:gdLst/>
            <a:ahLst/>
            <a:cxnLst/>
            <a:rect l="l" t="t" r="r" b="b"/>
            <a:pathLst>
              <a:path w="130809" h="130810">
                <a:moveTo>
                  <a:pt x="130479" y="0"/>
                </a:moveTo>
                <a:lnTo>
                  <a:pt x="0" y="0"/>
                </a:lnTo>
                <a:lnTo>
                  <a:pt x="0" y="130479"/>
                </a:lnTo>
                <a:lnTo>
                  <a:pt x="130479" y="130479"/>
                </a:lnTo>
                <a:lnTo>
                  <a:pt x="130479" y="0"/>
                </a:lnTo>
                <a:close/>
              </a:path>
            </a:pathLst>
          </a:custGeom>
          <a:solidFill>
            <a:srgbClr val="DC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40639" y="2072957"/>
            <a:ext cx="130810" cy="130810"/>
          </a:xfrm>
          <a:custGeom>
            <a:avLst/>
            <a:gdLst/>
            <a:ahLst/>
            <a:cxnLst/>
            <a:rect l="l" t="t" r="r" b="b"/>
            <a:pathLst>
              <a:path w="130809" h="130810">
                <a:moveTo>
                  <a:pt x="130479" y="0"/>
                </a:moveTo>
                <a:lnTo>
                  <a:pt x="0" y="0"/>
                </a:lnTo>
                <a:lnTo>
                  <a:pt x="0" y="130479"/>
                </a:lnTo>
                <a:lnTo>
                  <a:pt x="130479" y="130479"/>
                </a:lnTo>
                <a:lnTo>
                  <a:pt x="130479" y="0"/>
                </a:lnTo>
                <a:close/>
              </a:path>
            </a:pathLst>
          </a:custGeom>
          <a:solidFill>
            <a:srgbClr val="DC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40639" y="2441549"/>
            <a:ext cx="130810" cy="130810"/>
          </a:xfrm>
          <a:custGeom>
            <a:avLst/>
            <a:gdLst/>
            <a:ahLst/>
            <a:cxnLst/>
            <a:rect l="l" t="t" r="r" b="b"/>
            <a:pathLst>
              <a:path w="130809" h="130810">
                <a:moveTo>
                  <a:pt x="130479" y="0"/>
                </a:moveTo>
                <a:lnTo>
                  <a:pt x="0" y="0"/>
                </a:lnTo>
                <a:lnTo>
                  <a:pt x="0" y="130479"/>
                </a:lnTo>
                <a:lnTo>
                  <a:pt x="130479" y="130479"/>
                </a:lnTo>
                <a:lnTo>
                  <a:pt x="130479" y="0"/>
                </a:lnTo>
                <a:close/>
              </a:path>
            </a:pathLst>
          </a:custGeom>
          <a:solidFill>
            <a:srgbClr val="DC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58393" y="923212"/>
            <a:ext cx="1708150" cy="1666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1000"/>
              <a:buAutoNum type="arabicPlain"/>
              <a:tabLst>
                <a:tab pos="190500" algn="l"/>
              </a:tabLst>
            </a:pPr>
            <a:r>
              <a:rPr sz="1100" b="1" dirty="0">
                <a:solidFill>
                  <a:srgbClr val="0168B4"/>
                </a:solidFill>
                <a:latin typeface="Arial"/>
                <a:cs typeface="Arial"/>
                <a:hlinkClick r:id="rId1" action="ppaction://hlinksldjump"/>
              </a:rPr>
              <a:t>Data</a:t>
            </a:r>
            <a:r>
              <a:rPr sz="1100" b="1" spc="55" dirty="0">
                <a:solidFill>
                  <a:srgbClr val="0168B4"/>
                </a:solidFill>
                <a:latin typeface="Arial"/>
                <a:cs typeface="Arial"/>
                <a:hlinkClick r:id="rId1" action="ppaction://hlinksldjump"/>
              </a:rPr>
              <a:t> </a:t>
            </a:r>
            <a:r>
              <a:rPr sz="1100" b="1" spc="-20" dirty="0">
                <a:solidFill>
                  <a:srgbClr val="0168B4"/>
                </a:solidFill>
                <a:latin typeface="Arial"/>
                <a:cs typeface="Arial"/>
                <a:hlinkClick r:id="rId1" action="ppaction://hlinksldjump"/>
              </a:rPr>
              <a:t>and</a:t>
            </a:r>
            <a:r>
              <a:rPr sz="1100" b="1" spc="55" dirty="0">
                <a:solidFill>
                  <a:srgbClr val="0168B4"/>
                </a:solidFill>
                <a:latin typeface="Arial"/>
                <a:cs typeface="Arial"/>
                <a:hlinkClick r:id="rId1" action="ppaction://hlinksldjump"/>
              </a:rPr>
              <a:t> </a:t>
            </a: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  <a:hlinkClick r:id="rId1" action="ppaction://hlinksldjump"/>
              </a:rPr>
              <a:t>Learning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Font typeface="Arial"/>
              <a:buAutoNum type="arabicPlain"/>
            </a:pPr>
            <a:endParaRPr sz="1100">
              <a:latin typeface="Arial"/>
              <a:cs typeface="Arial"/>
            </a:endParaRPr>
          </a:p>
          <a:p>
            <a:pPr marL="190500" indent="-177800">
              <a:lnSpc>
                <a:spcPct val="100000"/>
              </a:lnSpc>
              <a:buClr>
                <a:srgbClr val="FFFFFF"/>
              </a:buClr>
              <a:buSzPct val="91000"/>
              <a:buAutoNum type="arabicPlain"/>
              <a:tabLst>
                <a:tab pos="190500" algn="l"/>
              </a:tabLst>
            </a:pP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  <a:hlinkClick r:id="rId2" action="ppaction://hlinksldjump"/>
              </a:rPr>
              <a:t>Machine</a:t>
            </a:r>
            <a:r>
              <a:rPr sz="1100" b="1" spc="-20" dirty="0">
                <a:solidFill>
                  <a:srgbClr val="0168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AutoNum type="arabicPlain"/>
            </a:pPr>
            <a:endParaRPr sz="1100">
              <a:latin typeface="Arial"/>
              <a:cs typeface="Arial"/>
            </a:endParaRPr>
          </a:p>
          <a:p>
            <a:pPr marL="190500" indent="-177800">
              <a:lnSpc>
                <a:spcPct val="100000"/>
              </a:lnSpc>
              <a:buClr>
                <a:srgbClr val="FFFFFF"/>
              </a:buClr>
              <a:buSzPct val="91000"/>
              <a:buAutoNum type="arabicPlain"/>
              <a:tabLst>
                <a:tab pos="190500" algn="l"/>
              </a:tabLst>
            </a:pPr>
            <a:r>
              <a:rPr sz="1100" b="1" spc="-60" dirty="0">
                <a:solidFill>
                  <a:srgbClr val="0168B4"/>
                </a:solidFill>
                <a:latin typeface="Arial"/>
                <a:cs typeface="Arial"/>
                <a:hlinkClick r:id="rId3" action="ppaction://hlinksldjump"/>
              </a:rPr>
              <a:t>Supervised</a:t>
            </a:r>
            <a:r>
              <a:rPr sz="1100" b="1" spc="45" dirty="0">
                <a:solidFill>
                  <a:srgbClr val="0168B4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  <a:hlinkClick r:id="rId3" action="ppaction://hlinksldjump"/>
              </a:rPr>
              <a:t>Learning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Font typeface="Arial"/>
              <a:buAutoNum type="arabicPlain"/>
            </a:pPr>
            <a:endParaRPr sz="1100">
              <a:latin typeface="Arial"/>
              <a:cs typeface="Arial"/>
            </a:endParaRPr>
          </a:p>
          <a:p>
            <a:pPr marL="190500" indent="-177800">
              <a:lnSpc>
                <a:spcPct val="100000"/>
              </a:lnSpc>
              <a:buClr>
                <a:srgbClr val="FFFFFF"/>
              </a:buClr>
              <a:buSzPct val="91000"/>
              <a:buAutoNum type="arabicPlain"/>
              <a:tabLst>
                <a:tab pos="190500" algn="l"/>
              </a:tabLst>
            </a:pPr>
            <a:r>
              <a:rPr sz="1100" b="1" spc="-60" dirty="0">
                <a:solidFill>
                  <a:srgbClr val="0168B4"/>
                </a:solidFill>
                <a:latin typeface="Arial"/>
                <a:cs typeface="Arial"/>
                <a:hlinkClick r:id="rId4" action="ppaction://hlinksldjump"/>
              </a:rPr>
              <a:t>Unsupervised</a:t>
            </a:r>
            <a:r>
              <a:rPr sz="1100" b="1" spc="30" dirty="0">
                <a:solidFill>
                  <a:srgbClr val="0168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  <a:hlinkClick r:id="rId4" action="ppaction://hlinksldjump"/>
              </a:rPr>
              <a:t>Learning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AutoNum type="arabicPlain"/>
            </a:pPr>
            <a:endParaRPr sz="1100">
              <a:latin typeface="Arial"/>
              <a:cs typeface="Arial"/>
            </a:endParaRPr>
          </a:p>
          <a:p>
            <a:pPr marL="190500" indent="-177800">
              <a:lnSpc>
                <a:spcPct val="100000"/>
              </a:lnSpc>
              <a:buClr>
                <a:srgbClr val="FFFFFF"/>
              </a:buClr>
              <a:buSzPct val="91000"/>
              <a:buAutoNum type="arabicPlain"/>
              <a:tabLst>
                <a:tab pos="190500" algn="l"/>
              </a:tabLst>
            </a:pP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  <a:hlinkClick r:id="rId5" action="ppaction://hlinksldjump"/>
              </a:rPr>
              <a:t>Reinforcement</a:t>
            </a:r>
            <a:r>
              <a:rPr sz="1100" b="1" spc="45" dirty="0">
                <a:solidFill>
                  <a:srgbClr val="0168B4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  <a:hlinkClick r:id="rId5" action="ppaction://hlinksldjump"/>
              </a:rPr>
              <a:t>Learning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2046" y="1081900"/>
            <a:ext cx="5116195" cy="592455"/>
          </a:xfrm>
          <a:custGeom>
            <a:avLst/>
            <a:gdLst/>
            <a:ahLst/>
            <a:cxnLst/>
            <a:rect l="l" t="t" r="r" b="b"/>
            <a:pathLst>
              <a:path w="5116195" h="592455">
                <a:moveTo>
                  <a:pt x="5115915" y="0"/>
                </a:moveTo>
                <a:lnTo>
                  <a:pt x="0" y="0"/>
                </a:lnTo>
                <a:lnTo>
                  <a:pt x="0" y="592188"/>
                </a:lnTo>
                <a:lnTo>
                  <a:pt x="5115915" y="592188"/>
                </a:lnTo>
                <a:lnTo>
                  <a:pt x="5115915" y="0"/>
                </a:lnTo>
                <a:close/>
              </a:path>
            </a:pathLst>
          </a:custGeom>
          <a:solidFill>
            <a:srgbClr val="E3C3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96048" y="1064817"/>
            <a:ext cx="4138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Arial"/>
                <a:cs typeface="Arial"/>
              </a:rPr>
              <a:t>Wisdom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is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not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product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schooling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but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lifelong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attempt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to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95" y="1236889"/>
            <a:ext cx="606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45" dirty="0">
                <a:latin typeface="Arial"/>
                <a:cs typeface="Arial"/>
              </a:rPr>
              <a:t>acquire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4030" y="892810"/>
            <a:ext cx="5146040" cy="851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4500" algn="l"/>
              </a:tabLst>
            </a:pPr>
            <a:r>
              <a:rPr sz="5450" i="1" spc="-470" dirty="0">
                <a:solidFill>
                  <a:srgbClr val="000000"/>
                </a:solidFill>
                <a:latin typeface="Arial"/>
                <a:cs typeface="Arial"/>
              </a:rPr>
              <a:t>“</a:t>
            </a:r>
            <a:r>
              <a:rPr sz="1100" i="1" spc="135" dirty="0">
                <a:solidFill>
                  <a:srgbClr val="000000"/>
                </a:solidFill>
                <a:latin typeface="Arial"/>
                <a:cs typeface="Arial"/>
              </a:rPr>
              <a:t>Al</a:t>
            </a:r>
            <a:r>
              <a:rPr sz="1100" i="1" spc="-243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1100" i="1" spc="135" dirty="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sz="1100" i="1" dirty="0">
                <a:solidFill>
                  <a:srgbClr val="000000"/>
                </a:solidFill>
                <a:latin typeface="Arial"/>
                <a:cs typeface="Arial"/>
              </a:rPr>
              <a:t>ert</a:t>
            </a:r>
            <a:r>
              <a:rPr sz="1100" i="1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000000"/>
                </a:solidFill>
                <a:latin typeface="Arial"/>
                <a:cs typeface="Arial"/>
              </a:rPr>
              <a:t>Einstein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8870" y="1272457"/>
            <a:ext cx="372110" cy="857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50" i="1" spc="855" dirty="0">
                <a:latin typeface="Arial"/>
                <a:cs typeface="Arial"/>
              </a:rPr>
              <a:t>”</a:t>
            </a:r>
            <a:endParaRPr sz="54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71160" y="2661038"/>
            <a:ext cx="352775" cy="34277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5760085" cy="204470"/>
            <a:chOff x="0" y="0"/>
            <a:chExt cx="5760085" cy="2044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4470"/>
            </a:xfrm>
            <a:custGeom>
              <a:avLst/>
              <a:gdLst/>
              <a:ahLst/>
              <a:cxnLst/>
              <a:rect l="l" t="t" r="r" b="b"/>
              <a:pathLst>
                <a:path w="5760085" h="204470">
                  <a:moveTo>
                    <a:pt x="5759996" y="0"/>
                  </a:moveTo>
                  <a:lnTo>
                    <a:pt x="0" y="0"/>
                  </a:lnTo>
                  <a:lnTo>
                    <a:pt x="0" y="203974"/>
                  </a:lnTo>
                  <a:lnTo>
                    <a:pt x="5759996" y="203974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E6C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65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065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10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14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18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22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FFFF"/>
                </a:solidFill>
                <a:hlinkClick r:id="rId2" action="ppaction://hlinksldjump"/>
              </a:rPr>
              <a:t>Data</a:t>
            </a:r>
            <a:r>
              <a:rPr spc="20" dirty="0">
                <a:solidFill>
                  <a:srgbClr val="FFFFFF"/>
                </a:solidFill>
                <a:hlinkClick r:id="rId2" action="ppaction://hlinksldjump"/>
              </a:rPr>
              <a:t> </a:t>
            </a:r>
            <a:r>
              <a:rPr dirty="0">
                <a:solidFill>
                  <a:srgbClr val="FFFFFF"/>
                </a:solidFill>
                <a:hlinkClick r:id="rId2" action="ppaction://hlinksldjump"/>
              </a:rPr>
              <a:t>and</a:t>
            </a:r>
            <a:r>
              <a:rPr spc="20" dirty="0">
                <a:solidFill>
                  <a:srgbClr val="FFFFFF"/>
                </a:solidFill>
                <a:hlinkClick r:id="rId2" action="ppaction://hlinksldjump"/>
              </a:rPr>
              <a:t> </a:t>
            </a:r>
            <a:r>
              <a:rPr spc="-10" dirty="0">
                <a:solidFill>
                  <a:srgbClr val="FFFFFF"/>
                </a:solidFill>
                <a:hlinkClick r:id="rId2" action="ppaction://hlinksldjump"/>
              </a:rPr>
              <a:t>Learning</a:t>
            </a:r>
            <a:endParaRPr spc="-10" dirty="0">
              <a:solidFill>
                <a:srgbClr val="FFFFFF"/>
              </a:solidFill>
              <a:hlinkClick r:id="rId2" action="ppaction://hlinksldjump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13" name="object 13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20" name="object 20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30" name="object 30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6979" y="140143"/>
            <a:ext cx="192405" cy="41275"/>
            <a:chOff x="4866979" y="140143"/>
            <a:chExt cx="192405" cy="41275"/>
          </a:xfrm>
        </p:grpSpPr>
        <p:sp>
          <p:nvSpPr>
            <p:cNvPr id="35" name="object 35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50034" y="1482261"/>
            <a:ext cx="225996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50" b="1" dirty="0">
                <a:solidFill>
                  <a:srgbClr val="DCB413"/>
                </a:solidFill>
                <a:latin typeface="Arial"/>
                <a:cs typeface="Arial"/>
              </a:rPr>
              <a:t>Data</a:t>
            </a:r>
            <a:r>
              <a:rPr sz="2050" b="1" spc="135" dirty="0">
                <a:solidFill>
                  <a:srgbClr val="DCB413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DCB413"/>
                </a:solidFill>
                <a:latin typeface="Arial"/>
                <a:cs typeface="Arial"/>
              </a:rPr>
              <a:t>and</a:t>
            </a:r>
            <a:r>
              <a:rPr sz="2050" b="1" spc="150" dirty="0">
                <a:solidFill>
                  <a:srgbClr val="DCB413"/>
                </a:solidFill>
                <a:latin typeface="Arial"/>
                <a:cs typeface="Arial"/>
              </a:rPr>
              <a:t> </a:t>
            </a:r>
            <a:r>
              <a:rPr sz="2050" b="1" spc="-75" dirty="0">
                <a:solidFill>
                  <a:srgbClr val="DCB413"/>
                </a:solidFill>
                <a:latin typeface="Arial"/>
                <a:cs typeface="Arial"/>
              </a:rPr>
              <a:t>Learning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71160" y="2661038"/>
            <a:ext cx="352775" cy="34277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5760085" cy="204470"/>
            <a:chOff x="0" y="0"/>
            <a:chExt cx="5760085" cy="2044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4470"/>
            </a:xfrm>
            <a:custGeom>
              <a:avLst/>
              <a:gdLst/>
              <a:ahLst/>
              <a:cxnLst/>
              <a:rect l="l" t="t" r="r" b="b"/>
              <a:pathLst>
                <a:path w="5760085" h="204470">
                  <a:moveTo>
                    <a:pt x="5759996" y="0"/>
                  </a:moveTo>
                  <a:lnTo>
                    <a:pt x="0" y="0"/>
                  </a:lnTo>
                  <a:lnTo>
                    <a:pt x="0" y="203974"/>
                  </a:lnTo>
                  <a:lnTo>
                    <a:pt x="5759996" y="203974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E6C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65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10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10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14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18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22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and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13" name="object 13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20" name="object 20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30" name="object 30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35" name="object 35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95250" y="280035"/>
            <a:ext cx="97345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Big</a:t>
            </a:r>
            <a:r>
              <a:rPr sz="1200" b="1" spc="-1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168B4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0003" y="776878"/>
            <a:ext cx="3779984" cy="685234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743686" y="266185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DC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3686" y="2813685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DC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47357" y="1634768"/>
            <a:ext cx="4890770" cy="12998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2245" marR="5080" indent="-170180">
              <a:lnSpc>
                <a:spcPct val="103000"/>
              </a:lnSpc>
              <a:spcBef>
                <a:spcPts val="55"/>
              </a:spcBef>
              <a:buClr>
                <a:srgbClr val="DCB413"/>
              </a:buClr>
              <a:buFont typeface="Lucida Sans Unicode"/>
              <a:buChar char="■"/>
              <a:tabLst>
                <a:tab pos="189230" algn="l"/>
              </a:tabLst>
            </a:pPr>
            <a:r>
              <a:rPr sz="1100" spc="-45" dirty="0">
                <a:latin typeface="Tahoma"/>
                <a:cs typeface="Tahoma"/>
              </a:rPr>
              <a:t>Widespread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personal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wireless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communication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leads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“Big </a:t>
            </a:r>
            <a:r>
              <a:rPr sz="1100" spc="-10" dirty="0">
                <a:latin typeface="Tahoma"/>
                <a:cs typeface="Tahoma"/>
              </a:rPr>
              <a:t>Data”</a:t>
            </a:r>
            <a:endParaRPr sz="1100">
              <a:latin typeface="Tahoma"/>
              <a:cs typeface="Tahoma"/>
            </a:endParaRPr>
          </a:p>
          <a:p>
            <a:pPr marL="182880" indent="-170180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288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both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5" dirty="0">
                <a:solidFill>
                  <a:srgbClr val="0168B4"/>
                </a:solidFill>
                <a:latin typeface="Arial"/>
                <a:cs typeface="Arial"/>
              </a:rPr>
              <a:t>producers</a:t>
            </a:r>
            <a:r>
              <a:rPr sz="1100" i="1" spc="1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80" dirty="0">
                <a:solidFill>
                  <a:srgbClr val="0168B4"/>
                </a:solidFill>
                <a:latin typeface="Arial"/>
                <a:cs typeface="Arial"/>
              </a:rPr>
              <a:t>consumers</a:t>
            </a:r>
            <a:r>
              <a:rPr sz="1100" i="1" spc="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random,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structure,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e.g.,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customer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behavior</a:t>
            </a:r>
            <a:endParaRPr sz="1100">
              <a:latin typeface="Tahoma"/>
              <a:cs typeface="Tahoma"/>
            </a:endParaRPr>
          </a:p>
          <a:p>
            <a:pPr marL="182880" indent="-170180">
              <a:lnSpc>
                <a:spcPct val="100000"/>
              </a:lnSpc>
              <a:spcBef>
                <a:spcPts val="170"/>
              </a:spcBef>
              <a:buClr>
                <a:srgbClr val="DCB413"/>
              </a:buClr>
              <a:buFont typeface="Lucida Sans Unicode"/>
              <a:buChar char="■"/>
              <a:tabLst>
                <a:tab pos="18288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“big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theory”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extract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structure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for:</a:t>
            </a:r>
            <a:endParaRPr sz="1100">
              <a:latin typeface="Tahoma"/>
              <a:cs typeface="Tahoma"/>
            </a:endParaRPr>
          </a:p>
          <a:p>
            <a:pPr marL="467360" lvl="1" indent="-147320">
              <a:lnSpc>
                <a:spcPts val="1200"/>
              </a:lnSpc>
              <a:spcBef>
                <a:spcPts val="175"/>
              </a:spcBef>
              <a:buClr>
                <a:srgbClr val="FFFFFF"/>
              </a:buClr>
              <a:buSzPct val="80000"/>
              <a:buFont typeface="Arial MT"/>
              <a:buAutoNum type="arabicPlain"/>
              <a:tabLst>
                <a:tab pos="466725" algn="l"/>
              </a:tabLst>
            </a:pPr>
            <a:r>
              <a:rPr sz="1000" spc="-35" dirty="0">
                <a:latin typeface="Tahoma"/>
                <a:cs typeface="Tahoma"/>
              </a:rPr>
              <a:t>Understanding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process</a:t>
            </a:r>
            <a:endParaRPr sz="1000">
              <a:latin typeface="Tahoma"/>
              <a:cs typeface="Tahoma"/>
            </a:endParaRPr>
          </a:p>
          <a:p>
            <a:pPr marL="467360" lvl="1" indent="-147320">
              <a:lnSpc>
                <a:spcPts val="1200"/>
              </a:lnSpc>
              <a:buClr>
                <a:srgbClr val="FFFFFF"/>
              </a:buClr>
              <a:buSzPct val="80000"/>
              <a:buFont typeface="Arial MT"/>
              <a:buAutoNum type="arabicPlain"/>
              <a:tabLst>
                <a:tab pos="466725" algn="l"/>
              </a:tabLst>
            </a:pPr>
            <a:r>
              <a:rPr sz="1000" dirty="0">
                <a:latin typeface="Tahoma"/>
                <a:cs typeface="Tahoma"/>
              </a:rPr>
              <a:t>Making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predictions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future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71160" y="2661038"/>
            <a:ext cx="352775" cy="34277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5760085" cy="204470"/>
            <a:chOff x="0" y="0"/>
            <a:chExt cx="5760085" cy="2044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4470"/>
            </a:xfrm>
            <a:custGeom>
              <a:avLst/>
              <a:gdLst/>
              <a:ahLst/>
              <a:cxnLst/>
              <a:rect l="l" t="t" r="r" b="b"/>
              <a:pathLst>
                <a:path w="5760085" h="204470">
                  <a:moveTo>
                    <a:pt x="5759996" y="0"/>
                  </a:moveTo>
                  <a:lnTo>
                    <a:pt x="0" y="0"/>
                  </a:lnTo>
                  <a:lnTo>
                    <a:pt x="0" y="203974"/>
                  </a:lnTo>
                  <a:lnTo>
                    <a:pt x="5759996" y="203974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E6C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65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10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14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14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18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22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and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13" name="object 13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20" name="object 20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30" name="object 30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35" name="object 35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95250" y="280035"/>
            <a:ext cx="137795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Why</a:t>
            </a:r>
            <a:r>
              <a:rPr sz="1200" b="1" spc="5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0168B4"/>
                </a:solidFill>
                <a:latin typeface="Arial"/>
                <a:cs typeface="Arial"/>
              </a:rPr>
              <a:t>“Learn”?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565" y="1863229"/>
            <a:ext cx="69850" cy="6985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565" y="2015058"/>
            <a:ext cx="69850" cy="6985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565" y="2166886"/>
            <a:ext cx="69850" cy="6985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565" y="2318715"/>
            <a:ext cx="69850" cy="69850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447357" y="1039125"/>
            <a:ext cx="4858385" cy="13938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5080" indent="-177165">
              <a:lnSpc>
                <a:spcPct val="103000"/>
              </a:lnSpc>
              <a:spcBef>
                <a:spcPts val="55"/>
              </a:spcBef>
              <a:buClr>
                <a:srgbClr val="DCB413"/>
              </a:buClr>
              <a:buFont typeface="Lucida Sans Unicode"/>
              <a:buChar char="■"/>
              <a:tabLst>
                <a:tab pos="189230" algn="l"/>
              </a:tabLst>
            </a:pPr>
            <a:r>
              <a:rPr sz="1100" spc="-10" dirty="0">
                <a:latin typeface="Tahoma"/>
                <a:cs typeface="Tahoma"/>
              </a:rPr>
              <a:t>Machine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programming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optimize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performance</a:t>
            </a:r>
            <a:r>
              <a:rPr sz="1100" spc="-25" dirty="0">
                <a:latin typeface="Tahoma"/>
                <a:cs typeface="Tahoma"/>
              </a:rPr>
              <a:t> criterion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experience.</a:t>
            </a:r>
            <a:endParaRPr sz="11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4785" algn="l"/>
              </a:tabLst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“learn”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calculate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payroll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17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when:</a:t>
            </a:r>
            <a:endParaRPr sz="1100">
              <a:latin typeface="Tahoma"/>
              <a:cs typeface="Tahoma"/>
            </a:endParaRPr>
          </a:p>
          <a:p>
            <a:pPr marL="466725">
              <a:lnSpc>
                <a:spcPts val="1200"/>
              </a:lnSpc>
              <a:spcBef>
                <a:spcPts val="175"/>
              </a:spcBef>
            </a:pPr>
            <a:r>
              <a:rPr sz="1000" spc="-25" dirty="0">
                <a:latin typeface="Tahoma"/>
                <a:cs typeface="Tahoma"/>
              </a:rPr>
              <a:t>Human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expertise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does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exist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(navigating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Mars),</a:t>
            </a:r>
            <a:endParaRPr sz="1000">
              <a:latin typeface="Tahoma"/>
              <a:cs typeface="Tahoma"/>
            </a:endParaRPr>
          </a:p>
          <a:p>
            <a:pPr marL="466725" marR="899795">
              <a:lnSpc>
                <a:spcPts val="1200"/>
              </a:lnSpc>
              <a:spcBef>
                <a:spcPts val="40"/>
              </a:spcBef>
            </a:pPr>
            <a:r>
              <a:rPr sz="1000" spc="-35" dirty="0">
                <a:latin typeface="Tahoma"/>
                <a:cs typeface="Tahoma"/>
              </a:rPr>
              <a:t>Humans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unable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0" dirty="0">
                <a:latin typeface="Tahoma"/>
                <a:cs typeface="Tahoma"/>
              </a:rPr>
              <a:t> explain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their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expertise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(speech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recognition) </a:t>
            </a:r>
            <a:r>
              <a:rPr sz="1000" spc="-10" dirty="0">
                <a:latin typeface="Tahoma"/>
                <a:cs typeface="Tahoma"/>
              </a:rPr>
              <a:t>Solution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changes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time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(routing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computer </a:t>
            </a:r>
            <a:r>
              <a:rPr sz="1000" spc="-10" dirty="0">
                <a:latin typeface="Tahoma"/>
                <a:cs typeface="Tahoma"/>
              </a:rPr>
              <a:t>network) Solution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needs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adapted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particular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cases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(user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biometrics)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71160" y="2661038"/>
            <a:ext cx="352775" cy="34277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5760085" cy="204470"/>
            <a:chOff x="0" y="0"/>
            <a:chExt cx="5760085" cy="2044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4470"/>
            </a:xfrm>
            <a:custGeom>
              <a:avLst/>
              <a:gdLst/>
              <a:ahLst/>
              <a:cxnLst/>
              <a:rect l="l" t="t" r="r" b="b"/>
              <a:pathLst>
                <a:path w="5760085" h="204470">
                  <a:moveTo>
                    <a:pt x="5759996" y="0"/>
                  </a:moveTo>
                  <a:lnTo>
                    <a:pt x="0" y="0"/>
                  </a:lnTo>
                  <a:lnTo>
                    <a:pt x="0" y="203974"/>
                  </a:lnTo>
                  <a:lnTo>
                    <a:pt x="5759996" y="203974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E6C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65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10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14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18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18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22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and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13" name="object 13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20" name="object 20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30" name="object 30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35" name="object 35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95250" y="280035"/>
            <a:ext cx="474916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What</a:t>
            </a:r>
            <a:r>
              <a:rPr sz="1200" b="1" spc="5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We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Talk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About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When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We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Talk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About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168B4"/>
                </a:solidFill>
                <a:latin typeface="Arial"/>
                <a:cs typeface="Arial"/>
              </a:rPr>
              <a:t>“Learning”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565" y="1963292"/>
            <a:ext cx="69850" cy="6985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447357" y="1095410"/>
            <a:ext cx="4965700" cy="11950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particular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examples</a:t>
            </a:r>
            <a:endParaRPr sz="1100">
              <a:latin typeface="Tahoma"/>
              <a:cs typeface="Tahoma"/>
            </a:endParaRPr>
          </a:p>
          <a:p>
            <a:pPr marL="189230" marR="5080" indent="-177165">
              <a:lnSpc>
                <a:spcPct val="103000"/>
              </a:lnSpc>
              <a:spcBef>
                <a:spcPts val="300"/>
              </a:spcBef>
              <a:buClr>
                <a:srgbClr val="DCB413"/>
              </a:buClr>
              <a:buFont typeface="Lucida Sans Unicode"/>
              <a:buChar char="■"/>
              <a:tabLst>
                <a:tab pos="189230" algn="l"/>
              </a:tabLst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cheap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abundant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(data </a:t>
            </a:r>
            <a:r>
              <a:rPr sz="1100" spc="-85" dirty="0">
                <a:latin typeface="Tahoma"/>
                <a:cs typeface="Tahoma"/>
              </a:rPr>
              <a:t>warehouses,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marts);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knowledge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expensive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scarce.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17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retail: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Customer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transactions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consumer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behavior:</a:t>
            </a:r>
            <a:endParaRPr sz="1100">
              <a:latin typeface="Tahoma"/>
              <a:cs typeface="Tahoma"/>
            </a:endParaRPr>
          </a:p>
          <a:p>
            <a:pPr marL="466725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People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who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buy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“Toothbrush”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also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buy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“Toothpaste”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(e-</a:t>
            </a:r>
            <a:r>
              <a:rPr sz="1000" spc="-40" dirty="0">
                <a:latin typeface="Tahoma"/>
                <a:cs typeface="Tahoma"/>
              </a:rPr>
              <a:t>commerce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sites)</a:t>
            </a:r>
            <a:endParaRPr sz="10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5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dirty="0">
                <a:latin typeface="Tahoma"/>
                <a:cs typeface="Tahoma"/>
              </a:rPr>
              <a:t>Build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good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71160" y="2661038"/>
            <a:ext cx="352775" cy="34277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5760085" cy="204470"/>
            <a:chOff x="0" y="0"/>
            <a:chExt cx="5760085" cy="2044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4470"/>
            </a:xfrm>
            <a:custGeom>
              <a:avLst/>
              <a:gdLst/>
              <a:ahLst/>
              <a:cxnLst/>
              <a:rect l="l" t="t" r="r" b="b"/>
              <a:pathLst>
                <a:path w="5760085" h="204470">
                  <a:moveTo>
                    <a:pt x="5759996" y="0"/>
                  </a:moveTo>
                  <a:lnTo>
                    <a:pt x="0" y="0"/>
                  </a:lnTo>
                  <a:lnTo>
                    <a:pt x="0" y="203974"/>
                  </a:lnTo>
                  <a:lnTo>
                    <a:pt x="5759996" y="203974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E6C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65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10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14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185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22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2249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and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13" name="object 13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20" name="object 20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30" name="object 30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35" name="object 35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6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95250" y="280035"/>
            <a:ext cx="137858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Data</a:t>
            </a:r>
            <a:r>
              <a:rPr sz="1200" b="1" spc="18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168B4"/>
                </a:solidFill>
                <a:latin typeface="Arial"/>
                <a:cs typeface="Arial"/>
              </a:rPr>
              <a:t>Mining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7357" y="901723"/>
            <a:ext cx="4561205" cy="17062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</a:rPr>
              <a:t>Retail</a:t>
            </a:r>
            <a:r>
              <a:rPr sz="1100" spc="-10" dirty="0">
                <a:latin typeface="Tahoma"/>
                <a:cs typeface="Tahoma"/>
              </a:rPr>
              <a:t>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Market</a:t>
            </a:r>
            <a:r>
              <a:rPr sz="1100" spc="-40" dirty="0">
                <a:latin typeface="Tahoma"/>
                <a:cs typeface="Tahoma"/>
              </a:rPr>
              <a:t> basket </a:t>
            </a:r>
            <a:r>
              <a:rPr sz="1100" spc="-35" dirty="0">
                <a:latin typeface="Tahoma"/>
                <a:cs typeface="Tahoma"/>
              </a:rPr>
              <a:t>analysis, Customer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relationship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management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(CRM)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</a:rPr>
              <a:t>Finance</a:t>
            </a:r>
            <a:r>
              <a:rPr sz="1100" spc="-40" dirty="0">
                <a:latin typeface="Tahoma"/>
                <a:cs typeface="Tahoma"/>
              </a:rPr>
              <a:t>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Credit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scoring,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fraud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25" dirty="0">
                <a:solidFill>
                  <a:srgbClr val="0168B4"/>
                </a:solidFill>
                <a:latin typeface="Arial"/>
                <a:cs typeface="Arial"/>
              </a:rPr>
              <a:t>Manufacturing</a:t>
            </a:r>
            <a:r>
              <a:rPr sz="1100" spc="-25" dirty="0">
                <a:latin typeface="Tahoma"/>
                <a:cs typeface="Tahoma"/>
              </a:rPr>
              <a:t>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Control,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robotics, </a:t>
            </a:r>
            <a:r>
              <a:rPr sz="1100" spc="-10" dirty="0">
                <a:latin typeface="Tahoma"/>
                <a:cs typeface="Tahoma"/>
              </a:rPr>
              <a:t>troubleshooting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25" dirty="0">
                <a:solidFill>
                  <a:srgbClr val="0168B4"/>
                </a:solidFill>
                <a:latin typeface="Arial"/>
                <a:cs typeface="Arial"/>
              </a:rPr>
              <a:t>Medicine</a:t>
            </a:r>
            <a:r>
              <a:rPr sz="1100" spc="-25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Medical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diagnosis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50" dirty="0">
                <a:solidFill>
                  <a:srgbClr val="0168B4"/>
                </a:solidFill>
                <a:latin typeface="Arial"/>
                <a:cs typeface="Arial"/>
              </a:rPr>
              <a:t>Telecommunications</a:t>
            </a:r>
            <a:r>
              <a:rPr sz="1100" spc="-50" dirty="0">
                <a:latin typeface="Tahoma"/>
                <a:cs typeface="Tahoma"/>
              </a:rPr>
              <a:t>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Spam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filters,</a:t>
            </a:r>
            <a:r>
              <a:rPr sz="1100" spc="-25" dirty="0">
                <a:latin typeface="Tahoma"/>
                <a:cs typeface="Tahoma"/>
              </a:rPr>
              <a:t> intrusion </a:t>
            </a:r>
            <a:r>
              <a:rPr sz="1100" spc="-10" dirty="0"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</a:rPr>
              <a:t>Bioinformatics</a:t>
            </a:r>
            <a:r>
              <a:rPr sz="1100" spc="-40" dirty="0">
                <a:latin typeface="Tahoma"/>
                <a:cs typeface="Tahoma"/>
              </a:rPr>
              <a:t>: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Motifs,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alignment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dirty="0">
                <a:solidFill>
                  <a:srgbClr val="0168B4"/>
                </a:solidFill>
                <a:latin typeface="Arial"/>
                <a:cs typeface="Arial"/>
              </a:rPr>
              <a:t>Web </a:t>
            </a:r>
            <a:r>
              <a:rPr sz="1100" b="1" spc="-35" dirty="0">
                <a:solidFill>
                  <a:srgbClr val="0168B4"/>
                </a:solidFill>
                <a:latin typeface="Arial"/>
                <a:cs typeface="Arial"/>
              </a:rPr>
              <a:t>mining</a:t>
            </a:r>
            <a:r>
              <a:rPr sz="1100" spc="-35" dirty="0">
                <a:latin typeface="Tahoma"/>
                <a:cs typeface="Tahoma"/>
              </a:rPr>
              <a:t>: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Search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engines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Char char="■"/>
              <a:tabLst>
                <a:tab pos="189865" algn="l"/>
              </a:tabLst>
            </a:pPr>
            <a:r>
              <a:rPr sz="1100" spc="175" dirty="0">
                <a:solidFill>
                  <a:srgbClr val="0168B4"/>
                </a:solidFill>
                <a:latin typeface="Lucida Sans Unicode"/>
                <a:cs typeface="Lucida Sans Unicode"/>
              </a:rPr>
              <a:t>⋯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hlinkClick r:id="rId1" action="ppaction://hlinksldjump"/>
              </a:rPr>
              <a:t>Data</a:t>
            </a:r>
            <a:r>
              <a:rPr spc="20" dirty="0">
                <a:hlinkClick r:id="rId1" action="ppaction://hlinksldjump"/>
              </a:rPr>
              <a:t> </a:t>
            </a:r>
            <a:r>
              <a:rPr dirty="0">
                <a:hlinkClick r:id="rId1" action="ppaction://hlinksldjump"/>
              </a:rPr>
              <a:t>and</a:t>
            </a:r>
            <a:r>
              <a:rPr spc="20" dirty="0">
                <a:hlinkClick r:id="rId1" action="ppaction://hlinksldjump"/>
              </a:rPr>
              <a:t> </a:t>
            </a:r>
            <a:r>
              <a:rPr spc="-10" dirty="0">
                <a:hlinkClick r:id="rId1" action="ppaction://hlinksldjump"/>
              </a:rPr>
              <a:t>Learning</a:t>
            </a:r>
            <a:endParaRPr spc="-10" dirty="0">
              <a:hlinkClick r:id="rId1" action="ppaction://hlinksldjump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2" name="object 12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9" y="140143"/>
            <a:ext cx="192405" cy="41275"/>
            <a:chOff x="4866979" y="140143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00148" y="1482261"/>
            <a:ext cx="215900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50" b="1" dirty="0">
                <a:solidFill>
                  <a:srgbClr val="DCB413"/>
                </a:solidFill>
                <a:latin typeface="Arial"/>
                <a:cs typeface="Arial"/>
              </a:rPr>
              <a:t>Machine</a:t>
            </a:r>
            <a:r>
              <a:rPr sz="2050" b="1" spc="-65" dirty="0">
                <a:solidFill>
                  <a:srgbClr val="DCB413"/>
                </a:solidFill>
                <a:latin typeface="Arial"/>
                <a:cs typeface="Arial"/>
              </a:rPr>
              <a:t> </a:t>
            </a:r>
            <a:r>
              <a:rPr sz="2050" b="1" spc="-70" dirty="0">
                <a:solidFill>
                  <a:srgbClr val="DCB413"/>
                </a:solidFill>
                <a:latin typeface="Arial"/>
                <a:cs typeface="Arial"/>
              </a:rPr>
              <a:t>Learning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2" name="object 12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84289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168B4"/>
                </a:solidFill>
                <a:latin typeface="Arial"/>
                <a:cs typeface="Arial"/>
              </a:rPr>
              <a:t>What</a:t>
            </a:r>
            <a:r>
              <a:rPr sz="1200" b="1" spc="3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0168B4"/>
                </a:solidFill>
                <a:latin typeface="Arial"/>
                <a:cs typeface="Arial"/>
              </a:rPr>
              <a:t>is</a:t>
            </a:r>
            <a:r>
              <a:rPr sz="1200" b="1" spc="3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168B4"/>
                </a:solidFill>
                <a:latin typeface="Arial"/>
                <a:cs typeface="Arial"/>
              </a:rPr>
              <a:t>Machine</a:t>
            </a:r>
            <a:r>
              <a:rPr sz="1200" b="1" spc="4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0168B4"/>
                </a:solidFill>
                <a:latin typeface="Arial"/>
                <a:cs typeface="Arial"/>
              </a:rPr>
              <a:t>Learning?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1884260"/>
            <a:ext cx="69850" cy="6985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2036089"/>
            <a:ext cx="69849" cy="698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47357" y="1188463"/>
            <a:ext cx="4405630" cy="11264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10" dirty="0">
                <a:latin typeface="Tahoma"/>
                <a:cs typeface="Tahoma"/>
              </a:rPr>
              <a:t>Optimize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criterion</a:t>
            </a:r>
            <a:r>
              <a:rPr sz="1100" spc="-40" dirty="0">
                <a:latin typeface="Tahoma"/>
                <a:cs typeface="Tahoma"/>
              </a:rPr>
              <a:t> using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past</a:t>
            </a:r>
            <a:r>
              <a:rPr sz="1100" spc="-45" dirty="0">
                <a:latin typeface="Tahoma"/>
                <a:cs typeface="Tahoma"/>
              </a:rPr>
              <a:t> experience.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10" dirty="0">
                <a:latin typeface="Tahoma"/>
                <a:cs typeface="Tahoma"/>
              </a:rPr>
              <a:t>Role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Statistics: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Inference</a:t>
            </a:r>
            <a:r>
              <a:rPr sz="1100" spc="-20" dirty="0">
                <a:latin typeface="Tahoma"/>
                <a:cs typeface="Tahoma"/>
              </a:rPr>
              <a:t> from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sample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17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10" dirty="0">
                <a:latin typeface="Tahoma"/>
                <a:cs typeface="Tahoma"/>
              </a:rPr>
              <a:t>Role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science: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Efficient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algorithms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to:</a:t>
            </a:r>
            <a:endParaRPr sz="1100">
              <a:latin typeface="Tahoma"/>
              <a:cs typeface="Tahoma"/>
            </a:endParaRPr>
          </a:p>
          <a:p>
            <a:pPr marL="466725">
              <a:lnSpc>
                <a:spcPts val="12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Solve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optimization </a:t>
            </a:r>
            <a:r>
              <a:rPr sz="1000" spc="-10" dirty="0">
                <a:latin typeface="Tahoma"/>
                <a:cs typeface="Tahoma"/>
              </a:rPr>
              <a:t>problem</a:t>
            </a:r>
            <a:endParaRPr sz="1000">
              <a:latin typeface="Tahoma"/>
              <a:cs typeface="Tahoma"/>
            </a:endParaRPr>
          </a:p>
          <a:p>
            <a:pPr marL="466725">
              <a:lnSpc>
                <a:spcPts val="1200"/>
              </a:lnSpc>
            </a:pPr>
            <a:r>
              <a:rPr sz="1000" spc="-45" dirty="0">
                <a:latin typeface="Tahoma"/>
                <a:cs typeface="Tahoma"/>
              </a:rPr>
              <a:t>Representing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spc="-35" dirty="0">
                <a:latin typeface="Tahoma"/>
                <a:cs typeface="Tahoma"/>
              </a:rPr>
              <a:t>evaluating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model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inference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2" name="object 12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115189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1589277"/>
            <a:ext cx="69850" cy="6984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1741106"/>
            <a:ext cx="69849" cy="698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47040" y="1123950"/>
            <a:ext cx="2656205" cy="13506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275"/>
              </a:spcBef>
              <a:buClr>
                <a:srgbClr val="DCB413"/>
              </a:buClr>
              <a:buFont typeface="Lucida Sans Unicode"/>
              <a:buChar char="■"/>
              <a:tabLst>
                <a:tab pos="184785" algn="l"/>
              </a:tabLst>
            </a:pPr>
            <a:r>
              <a:rPr sz="1100" spc="-10" dirty="0">
                <a:latin typeface="Tahoma"/>
                <a:cs typeface="Tahoma"/>
              </a:rPr>
              <a:t>Association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17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45" dirty="0">
                <a:latin typeface="Tahoma"/>
                <a:cs typeface="Tahoma"/>
              </a:rPr>
              <a:t>Supervised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</a:t>
            </a:r>
            <a:endParaRPr sz="1100">
              <a:latin typeface="Tahoma"/>
              <a:cs typeface="Tahoma"/>
            </a:endParaRPr>
          </a:p>
          <a:p>
            <a:pPr marL="466725" marR="403225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latin typeface="Tahoma"/>
                <a:cs typeface="Tahoma"/>
              </a:rPr>
              <a:t>Classification </a:t>
            </a:r>
            <a:endParaRPr sz="1000" spc="-25" dirty="0">
              <a:latin typeface="Tahoma"/>
              <a:cs typeface="Tahoma"/>
            </a:endParaRPr>
          </a:p>
          <a:p>
            <a:pPr marL="466725" marR="403225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Regression</a:t>
            </a:r>
            <a:endParaRPr sz="1000" spc="-10" dirty="0">
              <a:latin typeface="Tahoma"/>
              <a:cs typeface="Tahoma"/>
            </a:endParaRPr>
          </a:p>
          <a:p>
            <a:pPr marL="466725" marR="403225">
              <a:lnSpc>
                <a:spcPct val="100000"/>
              </a:lnSpc>
              <a:spcBef>
                <a:spcPts val="175"/>
              </a:spcBef>
            </a:pPr>
            <a:endParaRPr sz="10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5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45" dirty="0">
                <a:latin typeface="Tahoma"/>
                <a:cs typeface="Tahoma"/>
              </a:rPr>
              <a:t>Unsupervised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45" dirty="0">
                <a:latin typeface="Tahoma"/>
                <a:cs typeface="Tahoma"/>
              </a:rPr>
              <a:t>Reinforcement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2" name="object 12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17043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5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r>
              <a:rPr sz="1200" b="1" spc="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65" dirty="0">
                <a:solidFill>
                  <a:srgbClr val="0168B4"/>
                </a:solidFill>
                <a:latin typeface="Arial"/>
                <a:cs typeface="Arial"/>
              </a:rPr>
              <a:t>Associations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0824" y="892368"/>
            <a:ext cx="1982169" cy="124120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565" y="2690025"/>
            <a:ext cx="69850" cy="698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47357" y="2285986"/>
            <a:ext cx="4714240" cy="518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9865" indent="-177165">
              <a:lnSpc>
                <a:spcPts val="1260"/>
              </a:lnSpc>
              <a:spcBef>
                <a:spcPts val="9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20" dirty="0">
                <a:latin typeface="Tahoma"/>
                <a:cs typeface="Tahoma"/>
              </a:rPr>
              <a:t>Basket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analysis: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i="1" spc="135" dirty="0">
                <a:solidFill>
                  <a:srgbClr val="0168B4"/>
                </a:solidFill>
                <a:latin typeface="Calibri"/>
                <a:cs typeface="Calibri"/>
              </a:rPr>
              <a:t>P</a:t>
            </a:r>
            <a:r>
              <a:rPr sz="1100" i="1" spc="-100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spc="100" dirty="0">
                <a:solidFill>
                  <a:srgbClr val="0168B4"/>
                </a:solidFill>
                <a:latin typeface="Lucida Sans Unicode"/>
                <a:cs typeface="Lucida Sans Unicode"/>
              </a:rPr>
              <a:t>(</a:t>
            </a:r>
            <a:r>
              <a:rPr sz="1100" i="1" spc="100" dirty="0">
                <a:solidFill>
                  <a:srgbClr val="0168B4"/>
                </a:solidFill>
                <a:latin typeface="Calibri"/>
                <a:cs typeface="Calibri"/>
              </a:rPr>
              <a:t>Y</a:t>
            </a:r>
            <a:r>
              <a:rPr sz="1100" i="1" spc="-35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spc="170" dirty="0">
                <a:solidFill>
                  <a:srgbClr val="0168B4"/>
                </a:solidFill>
                <a:latin typeface="Lucida Sans Unicode"/>
                <a:cs typeface="Lucida Sans Unicode"/>
              </a:rPr>
              <a:t>∣</a:t>
            </a:r>
            <a:r>
              <a:rPr sz="1100" i="1" spc="170" dirty="0">
                <a:solidFill>
                  <a:srgbClr val="0168B4"/>
                </a:solidFill>
                <a:latin typeface="Calibri"/>
                <a:cs typeface="Calibri"/>
              </a:rPr>
              <a:t>X</a:t>
            </a:r>
            <a:r>
              <a:rPr sz="1100" spc="170" dirty="0">
                <a:solidFill>
                  <a:srgbClr val="0168B4"/>
                </a:solidFill>
                <a:latin typeface="Lucida Sans Unicode"/>
                <a:cs typeface="Lucida Sans Unicode"/>
              </a:rPr>
              <a:t>)</a:t>
            </a:r>
            <a:r>
              <a:rPr sz="1100" spc="-15" dirty="0">
                <a:solidFill>
                  <a:srgbClr val="0168B4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probability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somebody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buys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325" dirty="0">
                <a:solidFill>
                  <a:srgbClr val="0168B4"/>
                </a:solidFill>
                <a:latin typeface="Calibri"/>
                <a:cs typeface="Calibri"/>
              </a:rPr>
              <a:t>X</a:t>
            </a:r>
            <a:r>
              <a:rPr sz="1100" i="1" spc="160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buys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40" dirty="0">
                <a:solidFill>
                  <a:srgbClr val="0168B4"/>
                </a:solidFill>
                <a:latin typeface="Calibri"/>
                <a:cs typeface="Calibri"/>
              </a:rPr>
              <a:t>Y</a:t>
            </a:r>
            <a:endParaRPr sz="1100">
              <a:latin typeface="Calibri"/>
              <a:cs typeface="Calibri"/>
            </a:endParaRPr>
          </a:p>
          <a:p>
            <a:pPr marR="2110105" algn="ctr">
              <a:lnSpc>
                <a:spcPts val="1260"/>
              </a:lnSpc>
            </a:pP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325" dirty="0">
                <a:solidFill>
                  <a:srgbClr val="0168B4"/>
                </a:solidFill>
                <a:latin typeface="Calibri"/>
                <a:cs typeface="Calibri"/>
              </a:rPr>
              <a:t>X</a:t>
            </a:r>
            <a:r>
              <a:rPr sz="1100" i="1" spc="175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spc="90" dirty="0">
                <a:solidFill>
                  <a:srgbClr val="0168B4"/>
                </a:solidFill>
                <a:latin typeface="Calibri"/>
                <a:cs typeface="Calibri"/>
              </a:rPr>
              <a:t>Y</a:t>
            </a:r>
            <a:r>
              <a:rPr sz="1100" i="1" spc="320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products/services.</a:t>
            </a:r>
            <a:endParaRPr sz="1100">
              <a:latin typeface="Tahoma"/>
              <a:cs typeface="Tahoma"/>
            </a:endParaRPr>
          </a:p>
          <a:p>
            <a:pPr marR="2135505" algn="ctr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latin typeface="Tahoma"/>
                <a:cs typeface="Tahoma"/>
              </a:rPr>
              <a:t>Example:</a:t>
            </a:r>
            <a:r>
              <a:rPr sz="1000" spc="260" dirty="0">
                <a:latin typeface="Tahoma"/>
                <a:cs typeface="Tahoma"/>
              </a:rPr>
              <a:t> </a:t>
            </a:r>
            <a:r>
              <a:rPr sz="1000" i="1" spc="120" dirty="0">
                <a:solidFill>
                  <a:srgbClr val="0168B4"/>
                </a:solidFill>
                <a:latin typeface="Calibri"/>
                <a:cs typeface="Calibri"/>
              </a:rPr>
              <a:t>P</a:t>
            </a:r>
            <a:r>
              <a:rPr sz="1000" i="1" spc="-45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168B4"/>
                </a:solidFill>
                <a:latin typeface="Lucida Sans Unicode"/>
                <a:cs typeface="Lucida Sans Unicode"/>
              </a:rPr>
              <a:t>(</a:t>
            </a:r>
            <a:r>
              <a:rPr sz="1000" i="1" dirty="0">
                <a:solidFill>
                  <a:srgbClr val="0168B4"/>
                </a:solidFill>
                <a:latin typeface="Calibri"/>
                <a:cs typeface="Calibri"/>
              </a:rPr>
              <a:t>chips</a:t>
            </a:r>
            <a:r>
              <a:rPr sz="1000" dirty="0">
                <a:solidFill>
                  <a:srgbClr val="0168B4"/>
                </a:solidFill>
                <a:latin typeface="Lucida Sans Unicode"/>
                <a:cs typeface="Lucida Sans Unicode"/>
              </a:rPr>
              <a:t>∣</a:t>
            </a:r>
            <a:r>
              <a:rPr sz="1000" i="1" dirty="0">
                <a:solidFill>
                  <a:srgbClr val="0168B4"/>
                </a:solidFill>
                <a:latin typeface="Calibri"/>
                <a:cs typeface="Calibri"/>
              </a:rPr>
              <a:t>beer</a:t>
            </a:r>
            <a:r>
              <a:rPr sz="1000" dirty="0">
                <a:solidFill>
                  <a:srgbClr val="0168B4"/>
                </a:solidFill>
                <a:latin typeface="Lucida Sans Unicode"/>
                <a:cs typeface="Lucida Sans Unicode"/>
              </a:rPr>
              <a:t>)</a:t>
            </a:r>
            <a:r>
              <a:rPr sz="1000" spc="45" dirty="0">
                <a:solidFill>
                  <a:srgbClr val="0168B4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0168B4"/>
                </a:solidFill>
                <a:latin typeface="Segoe UI Symbol"/>
                <a:cs typeface="Segoe UI Symbol"/>
              </a:rPr>
              <a:t>=</a:t>
            </a:r>
            <a:r>
              <a:rPr sz="1000" spc="90" dirty="0">
                <a:solidFill>
                  <a:srgbClr val="0168B4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0168B4"/>
                </a:solidFill>
                <a:latin typeface="Calibri"/>
                <a:cs typeface="Calibri"/>
              </a:rPr>
              <a:t>0</a:t>
            </a:r>
            <a:r>
              <a:rPr sz="1000" i="1" spc="-25" dirty="0">
                <a:solidFill>
                  <a:srgbClr val="0168B4"/>
                </a:solidFill>
                <a:latin typeface="Calibri"/>
                <a:cs typeface="Calibri"/>
              </a:rPr>
              <a:t>.</a:t>
            </a:r>
            <a:r>
              <a:rPr sz="1000" spc="-25" dirty="0">
                <a:solidFill>
                  <a:srgbClr val="0168B4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2" name="object 12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76161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5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r>
              <a:rPr sz="1200" b="1" spc="2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Association:</a:t>
            </a:r>
            <a:r>
              <a:rPr sz="1200" b="1" spc="14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0168B4"/>
                </a:solidFill>
                <a:latin typeface="Arial"/>
                <a:cs typeface="Arial"/>
              </a:rPr>
              <a:t>Question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3816" y="1296390"/>
            <a:ext cx="5132705" cy="200025"/>
          </a:xfrm>
          <a:prstGeom prst="rect">
            <a:avLst/>
          </a:prstGeom>
          <a:solidFill>
            <a:srgbClr val="EDD989"/>
          </a:solidFill>
        </p:spPr>
        <p:txBody>
          <a:bodyPr vert="horz" wrap="square" lIns="0" tIns="25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0"/>
              </a:spcBef>
            </a:pPr>
            <a:r>
              <a:rPr sz="1100" spc="-10" dirty="0">
                <a:solidFill>
                  <a:srgbClr val="0168B4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3816" y="1495958"/>
            <a:ext cx="5132705" cy="589915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7940" rIns="0" bIns="0" rtlCol="0">
            <a:spAutoFit/>
          </a:bodyPr>
          <a:lstStyle/>
          <a:p>
            <a:pPr marL="41275" marR="39370" indent="4445" algn="just">
              <a:lnSpc>
                <a:spcPct val="103000"/>
              </a:lnSpc>
              <a:spcBef>
                <a:spcPts val="220"/>
              </a:spcBef>
            </a:pPr>
            <a:r>
              <a:rPr sz="1100" spc="-75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basket</a:t>
            </a:r>
            <a:r>
              <a:rPr sz="1100" spc="-40" dirty="0">
                <a:latin typeface="Tahoma"/>
                <a:cs typeface="Tahoma"/>
              </a:rPr>
              <a:t> analysis,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10" dirty="0">
                <a:latin typeface="Tahoma"/>
                <a:cs typeface="Tahoma"/>
              </a:rPr>
              <a:t>we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want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find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dependence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items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325" dirty="0">
                <a:solidFill>
                  <a:srgbClr val="0168B4"/>
                </a:solidFill>
                <a:latin typeface="Calibri"/>
                <a:cs typeface="Calibri"/>
              </a:rPr>
              <a:t>X</a:t>
            </a:r>
            <a:r>
              <a:rPr sz="1100" i="1" spc="155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90" dirty="0">
                <a:solidFill>
                  <a:srgbClr val="0168B4"/>
                </a:solidFill>
                <a:latin typeface="Calibri"/>
                <a:cs typeface="Calibri"/>
              </a:rPr>
              <a:t>Y</a:t>
            </a:r>
            <a:r>
              <a:rPr sz="1100" i="1" spc="-35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Given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database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customer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transactions,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dependencies?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would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items?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hlinkClick r:id="rId1" action="ppaction://hlinksldjump"/>
              </a:rPr>
              <a:t>Data</a:t>
            </a:r>
            <a:r>
              <a:rPr spc="20" dirty="0">
                <a:hlinkClick r:id="rId1" action="ppaction://hlinksldjump"/>
              </a:rPr>
              <a:t> </a:t>
            </a:r>
            <a:r>
              <a:rPr dirty="0">
                <a:hlinkClick r:id="rId1" action="ppaction://hlinksldjump"/>
              </a:rPr>
              <a:t>and</a:t>
            </a:r>
            <a:r>
              <a:rPr spc="20" dirty="0">
                <a:hlinkClick r:id="rId1" action="ppaction://hlinksldjump"/>
              </a:rPr>
              <a:t> </a:t>
            </a:r>
            <a:r>
              <a:rPr spc="-10" dirty="0">
                <a:hlinkClick r:id="rId1" action="ppaction://hlinksldjump"/>
              </a:rPr>
              <a:t>Learning</a:t>
            </a:r>
            <a:endParaRPr spc="-10" dirty="0">
              <a:hlinkClick r:id="rId1" action="ppaction://hlinksldjump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9" y="140143"/>
            <a:ext cx="192405" cy="41275"/>
            <a:chOff x="4866979" y="140143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66824" y="1482261"/>
            <a:ext cx="242570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50" b="1" spc="-80" dirty="0">
                <a:solidFill>
                  <a:srgbClr val="DCB413"/>
                </a:solidFill>
                <a:latin typeface="Arial"/>
                <a:cs typeface="Arial"/>
              </a:rPr>
              <a:t>Supervised</a:t>
            </a:r>
            <a:r>
              <a:rPr sz="2050" b="1" spc="10" dirty="0">
                <a:solidFill>
                  <a:srgbClr val="DCB413"/>
                </a:solidFill>
                <a:latin typeface="Arial"/>
                <a:cs typeface="Arial"/>
              </a:rPr>
              <a:t> </a:t>
            </a:r>
            <a:r>
              <a:rPr sz="2050" b="1" spc="-75" dirty="0">
                <a:solidFill>
                  <a:srgbClr val="DCB413"/>
                </a:solidFill>
                <a:latin typeface="Arial"/>
                <a:cs typeface="Arial"/>
              </a:rPr>
              <a:t>Learning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197358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solidFill>
                  <a:srgbClr val="0168B4"/>
                </a:solidFill>
                <a:latin typeface="Arial"/>
                <a:cs typeface="Arial"/>
              </a:rPr>
              <a:t>Supervised</a:t>
            </a:r>
            <a:r>
              <a:rPr sz="1200" b="1" spc="1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9985" y="765960"/>
            <a:ext cx="3748265" cy="2271795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354520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solidFill>
                  <a:srgbClr val="0168B4"/>
                </a:solidFill>
                <a:latin typeface="Arial"/>
                <a:cs typeface="Arial"/>
              </a:rPr>
              <a:t>Supervised</a:t>
            </a:r>
            <a:r>
              <a:rPr sz="1200" b="1" spc="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168B4"/>
                </a:solidFill>
                <a:latin typeface="Arial"/>
                <a:cs typeface="Arial"/>
              </a:rPr>
              <a:t>Learning:</a:t>
            </a:r>
            <a:r>
              <a:rPr sz="1200" b="1" spc="13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Classification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</a:pPr>
            <a:r>
              <a:rPr sz="1100" spc="-30" dirty="0">
                <a:latin typeface="Tahoma"/>
                <a:cs typeface="Tahoma"/>
              </a:rPr>
              <a:t>Example: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Credit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scoring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7357" y="1541956"/>
            <a:ext cx="228917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5080" indent="-177165">
              <a:lnSpc>
                <a:spcPct val="103000"/>
              </a:lnSpc>
              <a:spcBef>
                <a:spcPts val="55"/>
              </a:spcBef>
              <a:buClr>
                <a:srgbClr val="DCB413"/>
              </a:buClr>
              <a:buFont typeface="Lucida Sans Unicode"/>
              <a:buChar char="■"/>
              <a:tabLst>
                <a:tab pos="189230" algn="l"/>
              </a:tabLst>
            </a:pPr>
            <a:r>
              <a:rPr sz="1100" spc="-30" dirty="0">
                <a:latin typeface="Tahoma"/>
                <a:cs typeface="Tahoma"/>
              </a:rPr>
              <a:t>Differentiating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low-</a:t>
            </a:r>
            <a:r>
              <a:rPr sz="1100" spc="-10" dirty="0">
                <a:latin typeface="Tahoma"/>
                <a:cs typeface="Tahoma"/>
              </a:rPr>
              <a:t>risk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high-</a:t>
            </a:r>
            <a:r>
              <a:rPr sz="1100" spc="-10" dirty="0">
                <a:latin typeface="Tahoma"/>
                <a:cs typeface="Tahoma"/>
              </a:rPr>
              <a:t>risk</a:t>
            </a:r>
            <a:r>
              <a:rPr sz="1100" spc="-45" dirty="0">
                <a:latin typeface="Tahoma"/>
                <a:cs typeface="Tahoma"/>
              </a:rPr>
              <a:t> customers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 </a:t>
            </a:r>
            <a:r>
              <a:rPr sz="1100" spc="-35" dirty="0">
                <a:latin typeface="Tahoma"/>
                <a:cs typeface="Tahoma"/>
              </a:rPr>
              <a:t>income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savings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81354" y="1055007"/>
            <a:ext cx="1643790" cy="1658871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21894" y="2706686"/>
            <a:ext cx="45980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0168B4"/>
                </a:solidFill>
                <a:latin typeface="Arial"/>
                <a:cs typeface="Arial"/>
              </a:rPr>
              <a:t>Discriminant</a:t>
            </a:r>
            <a:r>
              <a:rPr sz="1100" spc="-30" dirty="0">
                <a:latin typeface="Tahoma"/>
                <a:cs typeface="Tahoma"/>
              </a:rPr>
              <a:t>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180" dirty="0">
                <a:latin typeface="Calibri"/>
                <a:cs typeface="Calibri"/>
              </a:rPr>
              <a:t>IF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35" dirty="0">
                <a:latin typeface="Tahoma"/>
                <a:cs typeface="Tahoma"/>
              </a:rPr>
              <a:t>income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168B4"/>
                </a:solidFill>
                <a:latin typeface="Segoe UI Symbol"/>
                <a:cs typeface="Segoe UI Symbol"/>
              </a:rPr>
              <a:t>&gt;</a:t>
            </a:r>
            <a:r>
              <a:rPr sz="1100" spc="-45" dirty="0">
                <a:solidFill>
                  <a:srgbClr val="0168B4"/>
                </a:solidFill>
                <a:latin typeface="Segoe UI Symbol"/>
                <a:cs typeface="Segoe UI Symbol"/>
              </a:rPr>
              <a:t> </a:t>
            </a:r>
            <a:r>
              <a:rPr sz="1100" i="1" dirty="0">
                <a:solidFill>
                  <a:srgbClr val="0168B4"/>
                </a:solidFill>
                <a:latin typeface="Calibri"/>
                <a:cs typeface="Calibri"/>
              </a:rPr>
              <a:t>θ</a:t>
            </a:r>
            <a:r>
              <a:rPr sz="1200" baseline="-14000" dirty="0">
                <a:solidFill>
                  <a:srgbClr val="0168B4"/>
                </a:solidFill>
                <a:latin typeface="Trebuchet MS"/>
                <a:cs typeface="Trebuchet MS"/>
              </a:rPr>
              <a:t>1</a:t>
            </a:r>
            <a:r>
              <a:rPr sz="1200" spc="157" baseline="-14000" dirty="0">
                <a:solidFill>
                  <a:srgbClr val="0168B4"/>
                </a:solidFill>
                <a:latin typeface="Trebuchet MS"/>
                <a:cs typeface="Trebuchet MS"/>
              </a:rPr>
              <a:t> </a:t>
            </a:r>
            <a:r>
              <a:rPr sz="1100" spc="-85" dirty="0">
                <a:latin typeface="Calibri"/>
                <a:cs typeface="Calibri"/>
              </a:rPr>
              <a:t>AND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45" dirty="0">
                <a:latin typeface="Tahoma"/>
                <a:cs typeface="Tahoma"/>
              </a:rPr>
              <a:t>savings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168B4"/>
                </a:solidFill>
                <a:latin typeface="Segoe UI Symbol"/>
                <a:cs typeface="Segoe UI Symbol"/>
              </a:rPr>
              <a:t>&gt;</a:t>
            </a:r>
            <a:r>
              <a:rPr sz="1100" spc="-45" dirty="0">
                <a:solidFill>
                  <a:srgbClr val="0168B4"/>
                </a:solidFill>
                <a:latin typeface="Segoe UI Symbol"/>
                <a:cs typeface="Segoe UI Symbol"/>
              </a:rPr>
              <a:t> </a:t>
            </a:r>
            <a:r>
              <a:rPr sz="1100" i="1" dirty="0">
                <a:solidFill>
                  <a:srgbClr val="0168B4"/>
                </a:solidFill>
                <a:latin typeface="Calibri"/>
                <a:cs typeface="Calibri"/>
              </a:rPr>
              <a:t>θ</a:t>
            </a:r>
            <a:r>
              <a:rPr sz="1200" baseline="-14000" dirty="0">
                <a:solidFill>
                  <a:srgbClr val="0168B4"/>
                </a:solidFill>
                <a:latin typeface="Trebuchet MS"/>
                <a:cs typeface="Trebuchet MS"/>
              </a:rPr>
              <a:t>2</a:t>
            </a:r>
            <a:r>
              <a:rPr sz="1200" spc="165" baseline="-14000" dirty="0">
                <a:solidFill>
                  <a:srgbClr val="0168B4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latin typeface="Calibri"/>
                <a:cs typeface="Calibri"/>
              </a:rPr>
              <a:t>THEN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55" dirty="0">
                <a:latin typeface="Tahoma"/>
                <a:cs typeface="Tahoma"/>
              </a:rPr>
              <a:t>low-</a:t>
            </a:r>
            <a:r>
              <a:rPr sz="1100" spc="-20" dirty="0">
                <a:latin typeface="Tahoma"/>
                <a:cs typeface="Tahoma"/>
              </a:rPr>
              <a:t>risk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60" dirty="0">
                <a:latin typeface="Calibri"/>
                <a:cs typeface="Calibri"/>
              </a:rPr>
              <a:t>ELSE </a:t>
            </a:r>
            <a:r>
              <a:rPr sz="1100" spc="-45" dirty="0">
                <a:latin typeface="Tahoma"/>
                <a:cs typeface="Tahoma"/>
              </a:rPr>
              <a:t>high-</a:t>
            </a:r>
            <a:r>
              <a:rPr sz="1100" spc="-20" dirty="0">
                <a:latin typeface="Tahoma"/>
                <a:cs typeface="Tahoma"/>
              </a:rPr>
              <a:t>risk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60032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5" dirty="0">
                <a:solidFill>
                  <a:srgbClr val="0168B4"/>
                </a:solidFill>
                <a:latin typeface="Arial"/>
                <a:cs typeface="Arial"/>
              </a:rPr>
              <a:t>Classification:</a:t>
            </a:r>
            <a:r>
              <a:rPr sz="1200" b="1" spc="18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0168B4"/>
                </a:solidFill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7357" y="903056"/>
            <a:ext cx="4828540" cy="16681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i="1" spc="-30" dirty="0">
                <a:solidFill>
                  <a:srgbClr val="0168B4"/>
                </a:solidFill>
                <a:latin typeface="Arial"/>
                <a:cs typeface="Arial"/>
              </a:rPr>
              <a:t>Also</a:t>
            </a:r>
            <a:r>
              <a:rPr sz="1100" i="1" spc="-4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0168B4"/>
                </a:solidFill>
                <a:latin typeface="Arial"/>
                <a:cs typeface="Arial"/>
              </a:rPr>
              <a:t>known</a:t>
            </a:r>
            <a:r>
              <a:rPr sz="1100" i="1" spc="-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i="1" spc="-90" dirty="0">
                <a:solidFill>
                  <a:srgbClr val="0168B4"/>
                </a:solidFill>
                <a:latin typeface="Arial"/>
                <a:cs typeface="Arial"/>
              </a:rPr>
              <a:t>as</a:t>
            </a:r>
            <a:r>
              <a:rPr sz="1100" spc="-90" dirty="0">
                <a:latin typeface="Tahoma"/>
                <a:cs typeface="Tahoma"/>
              </a:rPr>
              <a:t>,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Pattern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recognition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30" dirty="0">
                <a:solidFill>
                  <a:srgbClr val="0168B4"/>
                </a:solidFill>
                <a:latin typeface="Arial"/>
                <a:cs typeface="Arial"/>
              </a:rPr>
              <a:t>Face</a:t>
            </a:r>
            <a:r>
              <a:rPr sz="1100" b="1" spc="3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</a:rPr>
              <a:t>recognition</a:t>
            </a:r>
            <a:r>
              <a:rPr sz="1100" spc="-40" dirty="0">
                <a:latin typeface="Tahoma"/>
                <a:cs typeface="Tahoma"/>
              </a:rPr>
              <a:t>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Pose,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lighting,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occlusion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(glasses,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beard),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make-</a:t>
            </a:r>
            <a:r>
              <a:rPr sz="1100" spc="-40" dirty="0">
                <a:latin typeface="Tahoma"/>
                <a:cs typeface="Tahoma"/>
              </a:rPr>
              <a:t>up,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hairstyle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30" dirty="0">
                <a:solidFill>
                  <a:srgbClr val="0168B4"/>
                </a:solidFill>
                <a:latin typeface="Arial"/>
                <a:cs typeface="Arial"/>
              </a:rPr>
              <a:t>Character</a:t>
            </a:r>
            <a:r>
              <a:rPr sz="1100" b="1" spc="4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</a:rPr>
              <a:t>recognition</a:t>
            </a:r>
            <a:r>
              <a:rPr sz="1100" spc="-40" dirty="0">
                <a:latin typeface="Tahoma"/>
                <a:cs typeface="Tahoma"/>
              </a:rPr>
              <a:t>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Different </a:t>
            </a:r>
            <a:r>
              <a:rPr sz="1100" spc="-35" dirty="0">
                <a:latin typeface="Tahoma"/>
                <a:cs typeface="Tahoma"/>
              </a:rPr>
              <a:t>handwriting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styles.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50" dirty="0">
                <a:solidFill>
                  <a:srgbClr val="0168B4"/>
                </a:solidFill>
                <a:latin typeface="Arial"/>
                <a:cs typeface="Arial"/>
              </a:rPr>
              <a:t>Speech</a:t>
            </a:r>
            <a:r>
              <a:rPr sz="1100" b="1" spc="1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</a:rPr>
              <a:t>recognition</a:t>
            </a:r>
            <a:r>
              <a:rPr sz="1100" spc="-40" dirty="0">
                <a:latin typeface="Tahoma"/>
                <a:cs typeface="Tahoma"/>
              </a:rPr>
              <a:t>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Temporal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dependency.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</a:rPr>
              <a:t>Medical</a:t>
            </a:r>
            <a:r>
              <a:rPr sz="1100" b="1" spc="3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0168B4"/>
                </a:solidFill>
                <a:latin typeface="Arial"/>
                <a:cs typeface="Arial"/>
              </a:rPr>
              <a:t>diagnosis</a:t>
            </a:r>
            <a:r>
              <a:rPr sz="1100" spc="-70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symptoms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illnesses</a:t>
            </a:r>
            <a:endParaRPr sz="1100">
              <a:latin typeface="Tahoma"/>
              <a:cs typeface="Tahoma"/>
            </a:endParaRPr>
          </a:p>
          <a:p>
            <a:pPr marL="189230" marR="365760" indent="-177165">
              <a:lnSpc>
                <a:spcPct val="103000"/>
              </a:lnSpc>
              <a:spcBef>
                <a:spcPts val="300"/>
              </a:spcBef>
              <a:buClr>
                <a:srgbClr val="DCB413"/>
              </a:buClr>
              <a:buFont typeface="Lucida Sans Unicode"/>
              <a:buChar char="■"/>
              <a:tabLst>
                <a:tab pos="189230" algn="l"/>
              </a:tabLst>
            </a:pPr>
            <a:r>
              <a:rPr sz="1100" b="1" spc="-35" dirty="0">
                <a:solidFill>
                  <a:srgbClr val="0168B4"/>
                </a:solidFill>
                <a:latin typeface="Arial"/>
                <a:cs typeface="Arial"/>
              </a:rPr>
              <a:t>Biometrics</a:t>
            </a:r>
            <a:r>
              <a:rPr sz="1100" spc="-35" dirty="0">
                <a:latin typeface="Tahoma"/>
                <a:cs typeface="Tahoma"/>
              </a:rPr>
              <a:t>: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Recognition/authentication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physical</a:t>
            </a:r>
            <a:r>
              <a:rPr sz="1100" spc="-10" dirty="0">
                <a:latin typeface="Tahoma"/>
                <a:cs typeface="Tahoma"/>
              </a:rPr>
              <a:t> and/or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behavioral characteristics: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Face,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iris,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signature,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etc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dirty="0">
                <a:solidFill>
                  <a:srgbClr val="0168B4"/>
                </a:solidFill>
                <a:latin typeface="Arial"/>
                <a:cs typeface="Arial"/>
              </a:rPr>
              <a:t>Outlier/novelty</a:t>
            </a:r>
            <a:r>
              <a:rPr sz="1100" b="1" spc="-1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168B4"/>
                </a:solidFill>
                <a:latin typeface="Arial"/>
                <a:cs typeface="Arial"/>
              </a:rPr>
              <a:t>detection</a:t>
            </a:r>
            <a:r>
              <a:rPr sz="1100" spc="-1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300" y="280299"/>
            <a:ext cx="16668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5" dirty="0">
                <a:solidFill>
                  <a:srgbClr val="0168B4"/>
                </a:solidFill>
                <a:latin typeface="Arial"/>
                <a:cs typeface="Arial"/>
              </a:rPr>
              <a:t>Classification:</a:t>
            </a:r>
            <a:r>
              <a:rPr sz="1200" b="1" spc="18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0168B4"/>
                </a:solidFill>
                <a:latin typeface="Arial"/>
                <a:cs typeface="Arial"/>
              </a:rPr>
              <a:t>Question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13816" y="1089901"/>
            <a:ext cx="5132705" cy="1305560"/>
            <a:chOff x="313816" y="1089901"/>
            <a:chExt cx="5132705" cy="1305560"/>
          </a:xfrm>
        </p:grpSpPr>
        <p:sp>
          <p:nvSpPr>
            <p:cNvPr id="36" name="object 36"/>
            <p:cNvSpPr/>
            <p:nvPr/>
          </p:nvSpPr>
          <p:spPr>
            <a:xfrm>
              <a:off x="313816" y="1089901"/>
              <a:ext cx="5132705" cy="200025"/>
            </a:xfrm>
            <a:custGeom>
              <a:avLst/>
              <a:gdLst/>
              <a:ahLst/>
              <a:cxnLst/>
              <a:rect l="l" t="t" r="r" b="b"/>
              <a:pathLst>
                <a:path w="5132705" h="200025">
                  <a:moveTo>
                    <a:pt x="0" y="199567"/>
                  </a:moveTo>
                  <a:lnTo>
                    <a:pt x="5132362" y="199567"/>
                  </a:lnTo>
                  <a:lnTo>
                    <a:pt x="5132362" y="0"/>
                  </a:lnTo>
                  <a:lnTo>
                    <a:pt x="0" y="0"/>
                  </a:lnTo>
                  <a:lnTo>
                    <a:pt x="0" y="199567"/>
                  </a:lnTo>
                  <a:close/>
                </a:path>
              </a:pathLst>
            </a:custGeom>
            <a:solidFill>
              <a:srgbClr val="EDD9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13816" y="1289469"/>
              <a:ext cx="5132705" cy="1106170"/>
            </a:xfrm>
            <a:custGeom>
              <a:avLst/>
              <a:gdLst/>
              <a:ahLst/>
              <a:cxnLst/>
              <a:rect l="l" t="t" r="r" b="b"/>
              <a:pathLst>
                <a:path w="5132705" h="1106170">
                  <a:moveTo>
                    <a:pt x="5132362" y="0"/>
                  </a:moveTo>
                  <a:lnTo>
                    <a:pt x="0" y="0"/>
                  </a:lnTo>
                  <a:lnTo>
                    <a:pt x="0" y="1105573"/>
                  </a:lnTo>
                  <a:lnTo>
                    <a:pt x="5132362" y="1105573"/>
                  </a:lnTo>
                  <a:lnTo>
                    <a:pt x="513236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326516" y="1018054"/>
            <a:ext cx="5104765" cy="13442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585"/>
              </a:spcBef>
            </a:pPr>
            <a:r>
              <a:rPr sz="1100" spc="-10" dirty="0">
                <a:solidFill>
                  <a:srgbClr val="0168B4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  <a:p>
            <a:pPr marL="12700" marR="5080" indent="20320">
              <a:lnSpc>
                <a:spcPct val="103000"/>
              </a:lnSpc>
              <a:spcBef>
                <a:spcPts val="45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daily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newspaper,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sample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news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reports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each </a:t>
            </a:r>
            <a:r>
              <a:rPr sz="1100" spc="-45" dirty="0">
                <a:latin typeface="Tahoma"/>
                <a:cs typeface="Tahoma"/>
              </a:rPr>
              <a:t>category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politics,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sports,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arts.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over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reports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words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frequently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each </a:t>
            </a:r>
            <a:r>
              <a:rPr sz="1100" spc="-55" dirty="0">
                <a:latin typeface="Tahoma"/>
                <a:cs typeface="Tahoma"/>
              </a:rPr>
              <a:t>category,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 </a:t>
            </a:r>
            <a:r>
              <a:rPr sz="1100" spc="-50" dirty="0">
                <a:latin typeface="Tahoma"/>
                <a:cs typeface="Tahoma"/>
              </a:rPr>
              <a:t>may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help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you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discriminate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categories.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example,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70" dirty="0">
                <a:latin typeface="Tahoma"/>
                <a:cs typeface="Tahoma"/>
              </a:rPr>
              <a:t>news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report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politics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likely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include </a:t>
            </a:r>
            <a:r>
              <a:rPr sz="1100" spc="-65" dirty="0">
                <a:latin typeface="Tahoma"/>
                <a:cs typeface="Tahoma"/>
              </a:rPr>
              <a:t>words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0" dirty="0">
                <a:latin typeface="Tahoma"/>
                <a:cs typeface="Tahoma"/>
              </a:rPr>
              <a:t> 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“government,”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“recession,” </a:t>
            </a:r>
            <a:r>
              <a:rPr sz="1100" spc="-30" dirty="0">
                <a:latin typeface="Tahoma"/>
                <a:cs typeface="Tahoma"/>
              </a:rPr>
              <a:t>“congress,”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forth,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whereas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news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report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arts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include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“album,” “canvas,”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“theater.”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also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words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 </a:t>
            </a:r>
            <a:r>
              <a:rPr sz="1100" dirty="0">
                <a:latin typeface="Tahoma"/>
                <a:cs typeface="Tahoma"/>
              </a:rPr>
              <a:t>“goal”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ambiguous.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3305810" cy="64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solidFill>
                  <a:srgbClr val="0168B4"/>
                </a:solidFill>
                <a:latin typeface="Arial"/>
                <a:cs typeface="Arial"/>
              </a:rPr>
              <a:t>Supervised</a:t>
            </a:r>
            <a:r>
              <a:rPr sz="1200" b="1" spc="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168B4"/>
                </a:solidFill>
                <a:latin typeface="Arial"/>
                <a:cs typeface="Arial"/>
              </a:rPr>
              <a:t>Learning:</a:t>
            </a:r>
            <a:r>
              <a:rPr sz="1200" b="1" spc="13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0168B4"/>
                </a:solidFill>
                <a:latin typeface="Arial"/>
                <a:cs typeface="Arial"/>
              </a:rPr>
              <a:t>Regression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</a:pPr>
            <a:r>
              <a:rPr sz="1100" spc="-30" dirty="0">
                <a:latin typeface="Tahoma"/>
                <a:cs typeface="Tahoma"/>
              </a:rPr>
              <a:t>Example: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Price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2066531"/>
            <a:ext cx="69850" cy="6985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2218359"/>
            <a:ext cx="69850" cy="698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47357" y="1370721"/>
            <a:ext cx="1200785" cy="9620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i="1" spc="145" dirty="0">
                <a:solidFill>
                  <a:srgbClr val="0168B4"/>
                </a:solidFill>
                <a:latin typeface="Calibri"/>
                <a:cs typeface="Calibri"/>
              </a:rPr>
              <a:t>x</a:t>
            </a:r>
            <a:r>
              <a:rPr sz="1100" i="1" spc="60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i="1" dirty="0">
                <a:solidFill>
                  <a:srgbClr val="0168B4"/>
                </a:solidFill>
                <a:latin typeface="Calibri"/>
                <a:cs typeface="Calibri"/>
              </a:rPr>
              <a:t>y</a:t>
            </a:r>
            <a:r>
              <a:rPr sz="1100" i="1" spc="130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price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17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i="1" dirty="0">
                <a:solidFill>
                  <a:srgbClr val="0168B4"/>
                </a:solidFill>
                <a:latin typeface="Calibri"/>
                <a:cs typeface="Calibri"/>
              </a:rPr>
              <a:t>y</a:t>
            </a:r>
            <a:r>
              <a:rPr sz="1100" i="1" spc="95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8B4"/>
                </a:solidFill>
                <a:latin typeface="Segoe UI Symbol"/>
                <a:cs typeface="Segoe UI Symbol"/>
              </a:rPr>
              <a:t>=</a:t>
            </a:r>
            <a:r>
              <a:rPr sz="1100" spc="5" dirty="0">
                <a:solidFill>
                  <a:srgbClr val="0168B4"/>
                </a:solidFill>
                <a:latin typeface="Segoe UI Symbol"/>
                <a:cs typeface="Segoe UI Symbol"/>
              </a:rPr>
              <a:t> </a:t>
            </a:r>
            <a:r>
              <a:rPr sz="1100" i="1" spc="40" dirty="0">
                <a:solidFill>
                  <a:srgbClr val="0168B4"/>
                </a:solidFill>
                <a:latin typeface="Calibri"/>
                <a:cs typeface="Calibri"/>
              </a:rPr>
              <a:t>g</a:t>
            </a:r>
            <a:r>
              <a:rPr sz="1100" spc="40" dirty="0">
                <a:solidFill>
                  <a:srgbClr val="0168B4"/>
                </a:solidFill>
                <a:latin typeface="Lucida Sans Unicode"/>
                <a:cs typeface="Lucida Sans Unicode"/>
              </a:rPr>
              <a:t>(</a:t>
            </a:r>
            <a:r>
              <a:rPr sz="1100" i="1" spc="40" dirty="0">
                <a:solidFill>
                  <a:srgbClr val="0168B4"/>
                </a:solidFill>
                <a:latin typeface="Calibri"/>
                <a:cs typeface="Calibri"/>
              </a:rPr>
              <a:t>x</a:t>
            </a:r>
            <a:r>
              <a:rPr sz="1100" spc="40" dirty="0">
                <a:solidFill>
                  <a:srgbClr val="0168B4"/>
                </a:solidFill>
                <a:latin typeface="Lucida Sans Unicode"/>
                <a:cs typeface="Lucida Sans Unicode"/>
              </a:rPr>
              <a:t>∣</a:t>
            </a:r>
            <a:r>
              <a:rPr sz="1100" i="1" spc="40" dirty="0">
                <a:solidFill>
                  <a:srgbClr val="0168B4"/>
                </a:solidFill>
                <a:latin typeface="Calibri"/>
                <a:cs typeface="Calibri"/>
              </a:rPr>
              <a:t>q</a:t>
            </a:r>
            <a:r>
              <a:rPr sz="1100" spc="40" dirty="0">
                <a:solidFill>
                  <a:srgbClr val="0168B4"/>
                </a:solidFill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 marL="466725">
              <a:lnSpc>
                <a:spcPts val="1200"/>
              </a:lnSpc>
              <a:spcBef>
                <a:spcPts val="175"/>
              </a:spcBef>
            </a:pPr>
            <a:r>
              <a:rPr sz="1000" i="1" spc="70" dirty="0">
                <a:solidFill>
                  <a:srgbClr val="0168B4"/>
                </a:solidFill>
                <a:latin typeface="Calibri"/>
                <a:cs typeface="Calibri"/>
              </a:rPr>
              <a:t>g</a:t>
            </a:r>
            <a:r>
              <a:rPr sz="1000" spc="70" dirty="0">
                <a:solidFill>
                  <a:srgbClr val="0168B4"/>
                </a:solidFill>
                <a:latin typeface="Lucida Sans Unicode"/>
                <a:cs typeface="Lucida Sans Unicode"/>
              </a:rPr>
              <a:t>()</a:t>
            </a:r>
            <a:r>
              <a:rPr sz="1000" spc="20" dirty="0">
                <a:solidFill>
                  <a:srgbClr val="0168B4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model</a:t>
            </a:r>
            <a:endParaRPr sz="1000">
              <a:latin typeface="Tahoma"/>
              <a:cs typeface="Tahoma"/>
            </a:endParaRPr>
          </a:p>
          <a:p>
            <a:pPr marL="466725">
              <a:lnSpc>
                <a:spcPts val="1200"/>
              </a:lnSpc>
            </a:pPr>
            <a:r>
              <a:rPr sz="1000" i="1" dirty="0">
                <a:solidFill>
                  <a:srgbClr val="0168B4"/>
                </a:solidFill>
                <a:latin typeface="Calibri"/>
                <a:cs typeface="Calibri"/>
              </a:rPr>
              <a:t>q</a:t>
            </a:r>
            <a:r>
              <a:rPr sz="1000" i="1" spc="65" dirty="0">
                <a:solidFill>
                  <a:srgbClr val="0168B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Tahoma"/>
                <a:cs typeface="Tahoma"/>
              </a:rPr>
              <a:t>parameters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00300" y="928612"/>
            <a:ext cx="1915828" cy="1909334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00977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0" dirty="0">
                <a:solidFill>
                  <a:srgbClr val="0168B4"/>
                </a:solidFill>
                <a:latin typeface="Arial"/>
                <a:cs typeface="Arial"/>
              </a:rPr>
              <a:t>Regression:</a:t>
            </a:r>
            <a:r>
              <a:rPr sz="1200" b="1" spc="14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0168B4"/>
                </a:solidFill>
                <a:latin typeface="Arial"/>
                <a:cs typeface="Arial"/>
              </a:rPr>
              <a:t>Question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3816" y="1365224"/>
            <a:ext cx="5132705" cy="200025"/>
          </a:xfrm>
          <a:prstGeom prst="rect">
            <a:avLst/>
          </a:prstGeom>
          <a:solidFill>
            <a:srgbClr val="EDD989"/>
          </a:solidFill>
        </p:spPr>
        <p:txBody>
          <a:bodyPr vert="horz" wrap="square" lIns="0" tIns="25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0"/>
              </a:spcBef>
            </a:pPr>
            <a:r>
              <a:rPr sz="1100" spc="-10" dirty="0">
                <a:solidFill>
                  <a:srgbClr val="0168B4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3816" y="1564792"/>
            <a:ext cx="5132705" cy="41783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7940" rIns="0" bIns="0" rtlCol="0">
            <a:spAutoFit/>
          </a:bodyPr>
          <a:lstStyle/>
          <a:p>
            <a:pPr marL="45720" marR="335915">
              <a:lnSpc>
                <a:spcPct val="103000"/>
              </a:lnSpc>
              <a:spcBef>
                <a:spcPts val="22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estimating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car,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makes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sense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estimate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percent </a:t>
            </a:r>
            <a:r>
              <a:rPr sz="1100" spc="-40" dirty="0">
                <a:latin typeface="Tahoma"/>
                <a:cs typeface="Tahoma"/>
              </a:rPr>
              <a:t>depreciation</a:t>
            </a:r>
            <a:r>
              <a:rPr sz="1100" spc="-50" dirty="0">
                <a:latin typeface="Tahoma"/>
                <a:cs typeface="Tahoma"/>
              </a:rPr>
              <a:t> over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estimate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absolute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price.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Why?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53555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solidFill>
                  <a:srgbClr val="0168B4"/>
                </a:solidFill>
                <a:latin typeface="Arial"/>
                <a:cs typeface="Arial"/>
              </a:rPr>
              <a:t>Supervised</a:t>
            </a:r>
            <a:r>
              <a:rPr sz="1200" b="1" spc="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168B4"/>
                </a:solidFill>
                <a:latin typeface="Arial"/>
                <a:cs typeface="Arial"/>
              </a:rPr>
              <a:t>Learning:</a:t>
            </a:r>
            <a:r>
              <a:rPr sz="1200" b="1" spc="13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60" dirty="0">
                <a:solidFill>
                  <a:srgbClr val="0168B4"/>
                </a:solidFill>
                <a:latin typeface="Arial"/>
                <a:cs typeface="Arial"/>
              </a:rPr>
              <a:t>Uses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7357" y="1226995"/>
            <a:ext cx="488378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25" dirty="0">
                <a:solidFill>
                  <a:srgbClr val="0168B4"/>
                </a:solidFill>
                <a:latin typeface="Arial"/>
                <a:cs typeface="Arial"/>
              </a:rPr>
              <a:t>Prediction</a:t>
            </a:r>
            <a:r>
              <a:rPr sz="1100" b="1" spc="1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168B4"/>
                </a:solidFill>
                <a:latin typeface="Arial"/>
                <a:cs typeface="Arial"/>
              </a:rPr>
              <a:t>of</a:t>
            </a:r>
            <a:r>
              <a:rPr sz="1100" b="1" spc="1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168B4"/>
                </a:solidFill>
                <a:latin typeface="Arial"/>
                <a:cs typeface="Arial"/>
              </a:rPr>
              <a:t>future</a:t>
            </a:r>
            <a:r>
              <a:rPr sz="1100" b="1" spc="1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0168B4"/>
                </a:solidFill>
                <a:latin typeface="Arial"/>
                <a:cs typeface="Arial"/>
              </a:rPr>
              <a:t>cases</a:t>
            </a:r>
            <a:r>
              <a:rPr sz="1100" spc="-75" dirty="0">
                <a:latin typeface="Tahoma"/>
                <a:cs typeface="Tahoma"/>
              </a:rPr>
              <a:t>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rule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future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inputs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45" dirty="0">
                <a:solidFill>
                  <a:srgbClr val="0168B4"/>
                </a:solidFill>
                <a:latin typeface="Arial"/>
                <a:cs typeface="Arial"/>
              </a:rPr>
              <a:t>Knowledge</a:t>
            </a:r>
            <a:r>
              <a:rPr sz="1100" b="1" spc="2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0168B4"/>
                </a:solidFill>
                <a:latin typeface="Arial"/>
                <a:cs typeface="Arial"/>
              </a:rPr>
              <a:t>extraction</a:t>
            </a:r>
            <a:r>
              <a:rPr sz="1100" spc="-30" dirty="0">
                <a:latin typeface="Tahoma"/>
                <a:cs typeface="Tahoma"/>
              </a:rPr>
              <a:t>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rule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easy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understand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65" dirty="0">
                <a:solidFill>
                  <a:srgbClr val="0168B4"/>
                </a:solidFill>
                <a:latin typeface="Arial"/>
                <a:cs typeface="Arial"/>
              </a:rPr>
              <a:t>Compression</a:t>
            </a:r>
            <a:r>
              <a:rPr sz="1100" spc="-65" dirty="0">
                <a:latin typeface="Tahoma"/>
                <a:cs typeface="Tahoma"/>
              </a:rPr>
              <a:t>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rule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simpler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explains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dirty="0">
                <a:solidFill>
                  <a:srgbClr val="0168B4"/>
                </a:solidFill>
                <a:latin typeface="Arial"/>
                <a:cs typeface="Arial"/>
              </a:rPr>
              <a:t>Outlier</a:t>
            </a:r>
            <a:r>
              <a:rPr sz="1100" b="1" spc="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0168B4"/>
                </a:solidFill>
                <a:latin typeface="Arial"/>
                <a:cs typeface="Arial"/>
              </a:rPr>
              <a:t>detection</a:t>
            </a:r>
            <a:r>
              <a:rPr sz="1100" spc="-30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Exceptions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covered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rule,</a:t>
            </a:r>
            <a:r>
              <a:rPr sz="1100" spc="-40" dirty="0">
                <a:latin typeface="Tahoma"/>
                <a:cs typeface="Tahoma"/>
              </a:rPr>
              <a:t> e.g., </a:t>
            </a:r>
            <a:r>
              <a:rPr sz="1100" spc="-10" dirty="0">
                <a:latin typeface="Tahoma"/>
                <a:cs typeface="Tahoma"/>
              </a:rPr>
              <a:t>fraud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hlinkClick r:id="rId1" action="ppaction://hlinksldjump"/>
              </a:rPr>
              <a:t>Data</a:t>
            </a:r>
            <a:r>
              <a:rPr spc="20" dirty="0">
                <a:hlinkClick r:id="rId1" action="ppaction://hlinksldjump"/>
              </a:rPr>
              <a:t> </a:t>
            </a:r>
            <a:r>
              <a:rPr dirty="0">
                <a:hlinkClick r:id="rId1" action="ppaction://hlinksldjump"/>
              </a:rPr>
              <a:t>and</a:t>
            </a:r>
            <a:r>
              <a:rPr spc="20" dirty="0">
                <a:hlinkClick r:id="rId1" action="ppaction://hlinksldjump"/>
              </a:rPr>
              <a:t> </a:t>
            </a:r>
            <a:r>
              <a:rPr spc="-10" dirty="0">
                <a:hlinkClick r:id="rId1" action="ppaction://hlinksldjump"/>
              </a:rPr>
              <a:t>Learning</a:t>
            </a:r>
            <a:endParaRPr spc="-10" dirty="0">
              <a:hlinkClick r:id="rId1" action="ppaction://hlinksldjump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9" y="140143"/>
            <a:ext cx="192405" cy="41275"/>
            <a:chOff x="4866979" y="140143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17827" y="1482261"/>
            <a:ext cx="272351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50" b="1" spc="-75" dirty="0">
                <a:solidFill>
                  <a:srgbClr val="DCB413"/>
                </a:solidFill>
                <a:latin typeface="Arial"/>
                <a:cs typeface="Arial"/>
              </a:rPr>
              <a:t>Unsupervised</a:t>
            </a:r>
            <a:r>
              <a:rPr sz="2050" b="1" spc="-20" dirty="0">
                <a:solidFill>
                  <a:srgbClr val="DCB413"/>
                </a:solidFill>
                <a:latin typeface="Arial"/>
                <a:cs typeface="Arial"/>
              </a:rPr>
              <a:t> </a:t>
            </a:r>
            <a:r>
              <a:rPr sz="2050" b="1" spc="-75" dirty="0">
                <a:solidFill>
                  <a:srgbClr val="DCB413"/>
                </a:solidFill>
                <a:latin typeface="Arial"/>
                <a:cs typeface="Arial"/>
              </a:rPr>
              <a:t>Learning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14693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0" dirty="0">
                <a:solidFill>
                  <a:srgbClr val="0168B4"/>
                </a:solidFill>
                <a:latin typeface="Arial"/>
                <a:cs typeface="Arial"/>
              </a:rPr>
              <a:t>Unsupervised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3993" y="889391"/>
            <a:ext cx="4031748" cy="1742234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34823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0" dirty="0">
                <a:solidFill>
                  <a:srgbClr val="0168B4"/>
                </a:solidFill>
                <a:latin typeface="Arial"/>
                <a:cs typeface="Arial"/>
              </a:rPr>
              <a:t>Unsupervised</a:t>
            </a:r>
            <a:r>
              <a:rPr sz="1200" b="1" spc="5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1702066"/>
            <a:ext cx="69849" cy="6985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1853895"/>
            <a:ext cx="69850" cy="6985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2157552"/>
            <a:ext cx="69849" cy="6985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447357" y="1006256"/>
            <a:ext cx="4963795" cy="14173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Learning </a:t>
            </a:r>
            <a:r>
              <a:rPr sz="1100" dirty="0">
                <a:latin typeface="Tahoma"/>
                <a:cs typeface="Tahoma"/>
              </a:rPr>
              <a:t>“what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normally </a:t>
            </a:r>
            <a:r>
              <a:rPr sz="1100" spc="-10" dirty="0">
                <a:latin typeface="Tahoma"/>
                <a:cs typeface="Tahoma"/>
              </a:rPr>
              <a:t>happens”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b="1" spc="-40" dirty="0">
                <a:solidFill>
                  <a:srgbClr val="0168B4"/>
                </a:solidFill>
                <a:latin typeface="Arial"/>
                <a:cs typeface="Arial"/>
              </a:rPr>
              <a:t>Clustering</a:t>
            </a:r>
            <a:r>
              <a:rPr sz="1100" spc="-40" dirty="0">
                <a:latin typeface="Tahoma"/>
                <a:cs typeface="Tahoma"/>
              </a:rPr>
              <a:t>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Grouping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similar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instances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170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applications</a:t>
            </a:r>
            <a:endParaRPr sz="1100">
              <a:latin typeface="Tahoma"/>
              <a:cs typeface="Tahoma"/>
            </a:endParaRPr>
          </a:p>
          <a:p>
            <a:pPr marL="466725" marR="5080">
              <a:lnSpc>
                <a:spcPct val="100000"/>
              </a:lnSpc>
              <a:spcBef>
                <a:spcPts val="175"/>
              </a:spcBef>
            </a:pPr>
            <a:r>
              <a:rPr sz="1000" b="1" spc="-35" dirty="0">
                <a:solidFill>
                  <a:srgbClr val="0168B4"/>
                </a:solidFill>
                <a:latin typeface="Arial"/>
                <a:cs typeface="Arial"/>
              </a:rPr>
              <a:t>Genetics</a:t>
            </a:r>
            <a:r>
              <a:rPr sz="1000" spc="-35" dirty="0">
                <a:latin typeface="Tahoma"/>
                <a:cs typeface="Tahoma"/>
              </a:rPr>
              <a:t>: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example,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clustering</a:t>
            </a:r>
            <a:r>
              <a:rPr sz="1000" dirty="0">
                <a:latin typeface="Tahoma"/>
                <a:cs typeface="Tahoma"/>
              </a:rPr>
              <a:t> DNA </a:t>
            </a:r>
            <a:r>
              <a:rPr sz="1000" spc="-30" dirty="0">
                <a:latin typeface="Tahoma"/>
                <a:cs typeface="Tahoma"/>
              </a:rPr>
              <a:t>patterns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 </a:t>
            </a:r>
            <a:r>
              <a:rPr sz="1000" spc="-35" dirty="0">
                <a:latin typeface="Tahoma"/>
                <a:cs typeface="Tahoma"/>
              </a:rPr>
              <a:t>analyze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evolutionary</a:t>
            </a:r>
            <a:r>
              <a:rPr sz="1000" spc="-10" dirty="0">
                <a:latin typeface="Tahoma"/>
                <a:cs typeface="Tahoma"/>
              </a:rPr>
              <a:t> biology. </a:t>
            </a:r>
            <a:r>
              <a:rPr sz="1000" b="1" spc="-40" dirty="0">
                <a:solidFill>
                  <a:srgbClr val="0168B4"/>
                </a:solidFill>
                <a:latin typeface="Arial"/>
                <a:cs typeface="Arial"/>
              </a:rPr>
              <a:t>Recommender</a:t>
            </a:r>
            <a:r>
              <a:rPr sz="1000" b="1" spc="2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000" b="1" spc="-55" dirty="0">
                <a:solidFill>
                  <a:srgbClr val="0168B4"/>
                </a:solidFill>
                <a:latin typeface="Arial"/>
                <a:cs typeface="Arial"/>
              </a:rPr>
              <a:t>systems</a:t>
            </a:r>
            <a:r>
              <a:rPr sz="1000" spc="-55" dirty="0">
                <a:latin typeface="Tahoma"/>
                <a:cs typeface="Tahoma"/>
              </a:rPr>
              <a:t>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which </a:t>
            </a:r>
            <a:r>
              <a:rPr sz="1000" spc="-30" dirty="0">
                <a:latin typeface="Tahoma"/>
                <a:cs typeface="Tahoma"/>
              </a:rPr>
              <a:t>involve </a:t>
            </a:r>
            <a:r>
              <a:rPr sz="1000" spc="-35" dirty="0">
                <a:latin typeface="Tahoma"/>
                <a:cs typeface="Tahoma"/>
              </a:rPr>
              <a:t>grouping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together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users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similar </a:t>
            </a:r>
            <a:r>
              <a:rPr sz="1000" spc="-20" dirty="0">
                <a:latin typeface="Tahoma"/>
                <a:cs typeface="Tahoma"/>
              </a:rPr>
              <a:t>viewing </a:t>
            </a:r>
            <a:r>
              <a:rPr sz="1000" spc="-30" dirty="0">
                <a:latin typeface="Tahoma"/>
                <a:cs typeface="Tahoma"/>
              </a:rPr>
              <a:t>patterns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order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recommend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similar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content.</a:t>
            </a:r>
            <a:endParaRPr sz="1000">
              <a:latin typeface="Tahoma"/>
              <a:cs typeface="Tahoma"/>
            </a:endParaRPr>
          </a:p>
          <a:p>
            <a:pPr marL="466725" marR="194945">
              <a:lnSpc>
                <a:spcPts val="1200"/>
              </a:lnSpc>
              <a:spcBef>
                <a:spcPts val="30"/>
              </a:spcBef>
            </a:pPr>
            <a:r>
              <a:rPr sz="1000" b="1" spc="-25" dirty="0">
                <a:solidFill>
                  <a:srgbClr val="0168B4"/>
                </a:solidFill>
                <a:latin typeface="Arial"/>
                <a:cs typeface="Arial"/>
              </a:rPr>
              <a:t>Anomaly</a:t>
            </a:r>
            <a:r>
              <a:rPr sz="1000" b="1" spc="30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0168B4"/>
                </a:solidFill>
                <a:latin typeface="Arial"/>
                <a:cs typeface="Arial"/>
              </a:rPr>
              <a:t>detection</a:t>
            </a:r>
            <a:r>
              <a:rPr sz="1000" spc="-20" dirty="0">
                <a:latin typeface="Tahoma"/>
                <a:cs typeface="Tahoma"/>
              </a:rPr>
              <a:t>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including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fraud </a:t>
            </a:r>
            <a:r>
              <a:rPr sz="1000" spc="-30" dirty="0">
                <a:latin typeface="Tahoma"/>
                <a:cs typeface="Tahoma"/>
              </a:rPr>
              <a:t>detection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detecting </a:t>
            </a:r>
            <a:r>
              <a:rPr sz="1000" spc="-35" dirty="0">
                <a:latin typeface="Tahoma"/>
                <a:cs typeface="Tahoma"/>
              </a:rPr>
              <a:t>defective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mechanical </a:t>
            </a:r>
            <a:r>
              <a:rPr sz="1000" spc="-10" dirty="0">
                <a:latin typeface="Tahoma"/>
                <a:cs typeface="Tahoma"/>
              </a:rPr>
              <a:t>parts.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hlinkClick r:id="rId1" action="ppaction://hlinksldjump"/>
              </a:rPr>
              <a:t>Data</a:t>
            </a:r>
            <a:r>
              <a:rPr spc="20" dirty="0">
                <a:hlinkClick r:id="rId1" action="ppaction://hlinksldjump"/>
              </a:rPr>
              <a:t> </a:t>
            </a:r>
            <a:r>
              <a:rPr dirty="0">
                <a:hlinkClick r:id="rId1" action="ppaction://hlinksldjump"/>
              </a:rPr>
              <a:t>and</a:t>
            </a:r>
            <a:r>
              <a:rPr spc="20" dirty="0">
                <a:hlinkClick r:id="rId1" action="ppaction://hlinksldjump"/>
              </a:rPr>
              <a:t> </a:t>
            </a:r>
            <a:r>
              <a:rPr spc="-10" dirty="0">
                <a:hlinkClick r:id="rId1" action="ppaction://hlinksldjump"/>
              </a:rPr>
              <a:t>Learning</a:t>
            </a:r>
            <a:endParaRPr spc="-10" dirty="0">
              <a:hlinkClick r:id="rId1" action="ppaction://hlinksldjump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66979" y="140143"/>
            <a:ext cx="192405" cy="41275"/>
            <a:chOff x="4866979" y="140143"/>
            <a:chExt cx="192405" cy="41275"/>
          </a:xfrm>
        </p:grpSpPr>
        <p:sp>
          <p:nvSpPr>
            <p:cNvPr id="26" name="object 26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43151" y="1482261"/>
            <a:ext cx="287274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50" b="1" spc="-45" dirty="0">
                <a:solidFill>
                  <a:srgbClr val="DCB413"/>
                </a:solidFill>
                <a:latin typeface="Arial"/>
                <a:cs typeface="Arial"/>
              </a:rPr>
              <a:t>Reinforcement</a:t>
            </a:r>
            <a:r>
              <a:rPr sz="2050" b="1" spc="-5" dirty="0">
                <a:solidFill>
                  <a:srgbClr val="DCB413"/>
                </a:solidFill>
                <a:latin typeface="Arial"/>
                <a:cs typeface="Arial"/>
              </a:rPr>
              <a:t> </a:t>
            </a:r>
            <a:r>
              <a:rPr sz="2050" b="1" spc="-75" dirty="0">
                <a:solidFill>
                  <a:srgbClr val="DCB413"/>
                </a:solidFill>
                <a:latin typeface="Arial"/>
                <a:cs typeface="Arial"/>
              </a:rPr>
              <a:t>Learning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6" name="object 26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69875"/>
            <a:ext cx="238442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0168B4"/>
                </a:solidFill>
                <a:latin typeface="Arial"/>
                <a:cs typeface="Arial"/>
              </a:rPr>
              <a:t>Reinforcement</a:t>
            </a:r>
            <a:r>
              <a:rPr sz="1200" b="1" spc="2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9070" y="770375"/>
            <a:ext cx="4016942" cy="2072009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6" name="object 26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239839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0168B4"/>
                </a:solidFill>
                <a:latin typeface="Arial"/>
                <a:cs typeface="Arial"/>
              </a:rPr>
              <a:t>Reinforcement</a:t>
            </a:r>
            <a:r>
              <a:rPr sz="1200" b="1" spc="2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68B4"/>
                </a:solidFill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1762798"/>
            <a:ext cx="69850" cy="6985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1914626"/>
            <a:ext cx="69850" cy="6985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2066455"/>
            <a:ext cx="69850" cy="6985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565" y="2218283"/>
            <a:ext cx="69850" cy="69850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447357" y="1066988"/>
            <a:ext cx="2583815" cy="12655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5" dirty="0">
                <a:solidFill>
                  <a:srgbClr val="0168B4"/>
                </a:solidFill>
                <a:latin typeface="Arial"/>
                <a:cs typeface="Arial"/>
              </a:rPr>
              <a:t>policy</a:t>
            </a:r>
            <a:r>
              <a:rPr sz="1100" spc="-25" dirty="0">
                <a:latin typeface="Tahoma"/>
                <a:cs typeface="Tahoma"/>
              </a:rPr>
              <a:t>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outputs</a:t>
            </a:r>
            <a:endParaRPr sz="110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DCB413"/>
              </a:buClr>
              <a:buFont typeface="Lucida Sans Unicode"/>
              <a:buChar char="■"/>
              <a:tabLst>
                <a:tab pos="189865" algn="l"/>
              </a:tabLst>
            </a:pPr>
            <a:r>
              <a:rPr sz="1100" dirty="0">
                <a:latin typeface="Tahoma"/>
                <a:cs typeface="Tahoma"/>
              </a:rPr>
              <a:t>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supervised</a:t>
            </a:r>
            <a:r>
              <a:rPr sz="1100" spc="-20" dirty="0">
                <a:latin typeface="Tahoma"/>
                <a:cs typeface="Tahoma"/>
              </a:rPr>
              <a:t> output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delayed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reward</a:t>
            </a:r>
            <a:endParaRPr sz="11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170"/>
              </a:spcBef>
              <a:buClr>
                <a:srgbClr val="DCB413"/>
              </a:buClr>
              <a:buFont typeface="Lucida Sans Unicode"/>
              <a:buChar char="■"/>
              <a:tabLst>
                <a:tab pos="184785" algn="l"/>
              </a:tabLst>
            </a:pPr>
            <a:r>
              <a:rPr sz="1100" spc="-10" dirty="0">
                <a:latin typeface="Tahoma"/>
                <a:cs typeface="Tahoma"/>
              </a:rPr>
              <a:t>Applications:</a:t>
            </a:r>
            <a:endParaRPr sz="1100">
              <a:latin typeface="Tahoma"/>
              <a:cs typeface="Tahoma"/>
            </a:endParaRPr>
          </a:p>
          <a:p>
            <a:pPr marL="466725" marR="69850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Tahoma"/>
                <a:cs typeface="Tahoma"/>
              </a:rPr>
              <a:t>Credit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assignment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 </a:t>
            </a:r>
            <a:r>
              <a:rPr sz="1000" spc="-30" dirty="0">
                <a:latin typeface="Tahoma"/>
                <a:cs typeface="Tahoma"/>
              </a:rPr>
              <a:t>Game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playing</a:t>
            </a:r>
            <a:endParaRPr sz="1000">
              <a:latin typeface="Tahoma"/>
              <a:cs typeface="Tahoma"/>
            </a:endParaRPr>
          </a:p>
          <a:p>
            <a:pPr marL="466725">
              <a:lnSpc>
                <a:spcPts val="1190"/>
              </a:lnSpc>
            </a:pPr>
            <a:r>
              <a:rPr sz="1000" dirty="0">
                <a:latin typeface="Tahoma"/>
                <a:cs typeface="Tahoma"/>
              </a:rPr>
              <a:t>Robot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maze</a:t>
            </a:r>
            <a:endParaRPr sz="1000">
              <a:latin typeface="Tahoma"/>
              <a:cs typeface="Tahoma"/>
            </a:endParaRPr>
          </a:p>
          <a:p>
            <a:pPr marL="466725">
              <a:lnSpc>
                <a:spcPts val="1200"/>
              </a:lnSpc>
            </a:pPr>
            <a:r>
              <a:rPr sz="1000" dirty="0">
                <a:latin typeface="Tahoma"/>
                <a:cs typeface="Tahoma"/>
              </a:rPr>
              <a:t>Multiple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agents,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partial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observability,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...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5252"/>
            <a:ext cx="652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Data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and</a:t>
            </a:r>
            <a:r>
              <a:rPr sz="600" spc="2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1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784" y="140134"/>
            <a:ext cx="243204" cy="41275"/>
            <a:chOff x="1269784" y="140134"/>
            <a:chExt cx="243204" cy="41275"/>
          </a:xfrm>
        </p:grpSpPr>
        <p:sp>
          <p:nvSpPr>
            <p:cNvPr id="4" name="object 4"/>
            <p:cNvSpPr/>
            <p:nvPr/>
          </p:nvSpPr>
          <p:spPr>
            <a:xfrm>
              <a:off x="12723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27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124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51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7392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6962" y="25252"/>
            <a:ext cx="622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1003" y="140134"/>
            <a:ext cx="394335" cy="41275"/>
            <a:chOff x="2391003" y="140134"/>
            <a:chExt cx="394335" cy="41275"/>
          </a:xfrm>
        </p:grpSpPr>
        <p:sp>
          <p:nvSpPr>
            <p:cNvPr id="11" name="object 11"/>
            <p:cNvSpPr/>
            <p:nvPr/>
          </p:nvSpPr>
          <p:spPr>
            <a:xfrm>
              <a:off x="23935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439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43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447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951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45537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9594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633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368194" y="25252"/>
            <a:ext cx="697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Supervised</a:t>
            </a:r>
            <a:r>
              <a:rPr sz="600" spc="6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7432" y="140134"/>
            <a:ext cx="142240" cy="41275"/>
            <a:chOff x="3587432" y="140134"/>
            <a:chExt cx="142240" cy="41275"/>
          </a:xfrm>
        </p:grpSpPr>
        <p:sp>
          <p:nvSpPr>
            <p:cNvPr id="21" name="object 21"/>
            <p:cNvSpPr/>
            <p:nvPr/>
          </p:nvSpPr>
          <p:spPr>
            <a:xfrm>
              <a:off x="35899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40366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90772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564610" y="25252"/>
            <a:ext cx="781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Unsupervised</a:t>
            </a:r>
            <a:r>
              <a:rPr sz="600" spc="35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2E4AC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66970" y="140134"/>
            <a:ext cx="192405" cy="41275"/>
            <a:chOff x="4866970" y="140134"/>
            <a:chExt cx="192405" cy="41275"/>
          </a:xfrm>
        </p:grpSpPr>
        <p:sp>
          <p:nvSpPr>
            <p:cNvPr id="26" name="object 26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199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703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20703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9510" y="14267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2E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844160" y="25252"/>
            <a:ext cx="821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Reinforcement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987"/>
            <a:ext cx="5760085" cy="340360"/>
          </a:xfrm>
          <a:custGeom>
            <a:avLst/>
            <a:gdLst/>
            <a:ahLst/>
            <a:cxnLst/>
            <a:rect l="l" t="t" r="r" b="b"/>
            <a:pathLst>
              <a:path w="5760085" h="340359">
                <a:moveTo>
                  <a:pt x="5759996" y="0"/>
                </a:moveTo>
                <a:lnTo>
                  <a:pt x="0" y="0"/>
                </a:lnTo>
                <a:lnTo>
                  <a:pt x="0" y="339991"/>
                </a:lnTo>
                <a:lnTo>
                  <a:pt x="5759996" y="339991"/>
                </a:lnTo>
                <a:lnTo>
                  <a:pt x="5759996" y="0"/>
                </a:lnTo>
                <a:close/>
              </a:path>
            </a:pathLst>
          </a:custGeom>
          <a:solidFill>
            <a:srgbClr val="C1E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5250" y="280035"/>
            <a:ext cx="319786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0168B4"/>
                </a:solidFill>
                <a:latin typeface="Arial"/>
                <a:cs typeface="Arial"/>
              </a:rPr>
              <a:t>Reinforcement</a:t>
            </a:r>
            <a:r>
              <a:rPr sz="1200" b="1" spc="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168B4"/>
                </a:solidFill>
                <a:latin typeface="Arial"/>
                <a:cs typeface="Arial"/>
              </a:rPr>
              <a:t>Learning:</a:t>
            </a:r>
            <a:r>
              <a:rPr sz="1200" b="1" spc="125" dirty="0">
                <a:solidFill>
                  <a:srgbClr val="0168B4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168B4"/>
                </a:solidFill>
                <a:latin typeface="Arial"/>
                <a:cs typeface="Arial"/>
              </a:rPr>
              <a:t>Question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3816" y="1434058"/>
            <a:ext cx="5132705" cy="200025"/>
          </a:xfrm>
          <a:prstGeom prst="rect">
            <a:avLst/>
          </a:prstGeom>
          <a:solidFill>
            <a:srgbClr val="EDD989"/>
          </a:solidFill>
        </p:spPr>
        <p:txBody>
          <a:bodyPr vert="horz" wrap="square" lIns="0" tIns="25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0"/>
              </a:spcBef>
            </a:pPr>
            <a:r>
              <a:rPr sz="1100" spc="-10" dirty="0">
                <a:solidFill>
                  <a:srgbClr val="0168B4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3816" y="1633613"/>
            <a:ext cx="5132705" cy="245745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32384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55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would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you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programming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competition?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E6C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95300" y="3131566"/>
            <a:ext cx="9734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CSE</a:t>
            </a:r>
            <a:r>
              <a:rPr sz="600" spc="-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411: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</a:t>
            </a:r>
            <a:r>
              <a:rPr spc="25" dirty="0"/>
              <a:t> </a:t>
            </a:r>
            <a:r>
              <a:rPr spc="-10" dirty="0"/>
              <a:t>Muhammad</a:t>
            </a:r>
            <a:r>
              <a:rPr spc="30" dirty="0"/>
              <a:t> </a:t>
            </a:r>
            <a:r>
              <a:rPr dirty="0"/>
              <a:t>Abul</a:t>
            </a:r>
            <a:r>
              <a:rPr spc="25" dirty="0"/>
              <a:t> </a:t>
            </a:r>
            <a:r>
              <a:rPr spc="-20" dirty="0"/>
              <a:t>Hasan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3902" y="1369002"/>
            <a:ext cx="144272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50" b="1" dirty="0">
                <a:solidFill>
                  <a:srgbClr val="DCB413"/>
                </a:solidFill>
                <a:latin typeface="Arial"/>
                <a:cs typeface="Arial"/>
              </a:rPr>
              <a:t>Thank</a:t>
            </a:r>
            <a:r>
              <a:rPr sz="2050" b="1" spc="120" dirty="0">
                <a:solidFill>
                  <a:srgbClr val="DCB413"/>
                </a:solidFill>
                <a:latin typeface="Arial"/>
                <a:cs typeface="Arial"/>
              </a:rPr>
              <a:t> </a:t>
            </a:r>
            <a:r>
              <a:rPr sz="2050" b="1" spc="-25" dirty="0">
                <a:solidFill>
                  <a:srgbClr val="DCB413"/>
                </a:solidFill>
                <a:latin typeface="Arial"/>
                <a:cs typeface="Arial"/>
              </a:rPr>
              <a:t>You!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8393</Words>
  <Application>WPS Presentation</Application>
  <PresentationFormat>On-screen Show (4:3)</PresentationFormat>
  <Paragraphs>504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SimSun</vt:lpstr>
      <vt:lpstr>Wingdings</vt:lpstr>
      <vt:lpstr>Arial MT</vt:lpstr>
      <vt:lpstr>Arial</vt:lpstr>
      <vt:lpstr>Lucida Sans Unicode</vt:lpstr>
      <vt:lpstr>Tahoma</vt:lpstr>
      <vt:lpstr>Calibri</vt:lpstr>
      <vt:lpstr>Segoe UI Symbol</vt:lpstr>
      <vt:lpstr>Trebuchet MS</vt:lpstr>
      <vt:lpstr>DejaVu Sans</vt:lpstr>
      <vt:lpstr>微软雅黑</vt:lpstr>
      <vt:lpstr>Droid Sans Fallback</vt:lpstr>
      <vt:lpstr>Arial Unicode MS</vt:lpstr>
      <vt:lpstr>Gubbi</vt:lpstr>
      <vt:lpstr>esint10</vt:lpstr>
      <vt:lpstr>Standard Symbols PS</vt:lpstr>
      <vt:lpstr>Arimo</vt:lpstr>
      <vt:lpstr>Office Theme</vt:lpstr>
      <vt:lpstr>PowerPoint 演示文稿</vt:lpstr>
      <vt:lpstr>PowerPoint 演示文稿</vt:lpstr>
      <vt:lpstr>“Alb–ert Einstein</vt:lpstr>
      <vt:lpstr>Data and Learning</vt:lpstr>
      <vt:lpstr>PowerPoint 演示文稿</vt:lpstr>
      <vt:lpstr>PowerPoint 演示文稿</vt:lpstr>
      <vt:lpstr>PowerPoint 演示文稿</vt:lpstr>
      <vt:lpstr>PowerPoint 演示文稿</vt:lpstr>
      <vt:lpstr>Data and Learning</vt:lpstr>
      <vt:lpstr>PowerPoint 演示文稿</vt:lpstr>
      <vt:lpstr>PowerPoint 演示文稿</vt:lpstr>
      <vt:lpstr>PowerPoint 演示文稿</vt:lpstr>
      <vt:lpstr>PowerPoint 演示文稿</vt:lpstr>
      <vt:lpstr>Data and Learning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Data and Learning</vt:lpstr>
      <vt:lpstr>PowerPoint 演示文稿</vt:lpstr>
      <vt:lpstr>PowerPoint 演示文稿</vt:lpstr>
      <vt:lpstr>Data and Learning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411: Machine Learning - Introduction</dc:title>
  <dc:creator>Dr Muhammad Abul Hasan</dc:creator>
  <dc:subject>Lecture Notes</dc:subject>
  <cp:lastModifiedBy>dean</cp:lastModifiedBy>
  <cp:revision>20</cp:revision>
  <dcterms:created xsi:type="dcterms:W3CDTF">2026-04-24T03:09:46Z</dcterms:created>
  <dcterms:modified xsi:type="dcterms:W3CDTF">2026-04-24T03:09:46Z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1900-01-00T00:00:00Z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1900-01-00T00:00:00Z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  <property fmtid="{D5CDD505-2E9C-101B-9397-08002B2CF9AE}" pid="7" name="KSOProductBuildVer">
    <vt:lpwstr>1033-10.1.0.6757</vt:lpwstr>
  </property>
</Properties>
</file>